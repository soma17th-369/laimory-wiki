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dcadd7397d4628" /><Relationship Type="http://schemas.openxmlformats.org/officeDocument/2006/relationships/extended-properties" Target="/docProps/app.xml" Id="R4ab5119d9d4e48d3" /><Relationship Type="http://schemas.openxmlformats.org/officeDocument/2006/relationships/officeDocument" Target="/ppt/presentation.xml" Id="R4d2298586ef141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bc75f119e14dd8"/>
  </p:sldMasterIdLst>
  <p:notesMasterIdLst>
    <p:notesMasterId xmlns:r="http://schemas.openxmlformats.org/officeDocument/2006/relationships" r:id="R045581e2d0bb46a7"/>
  </p:notesMasterIdLst>
  <p:sldIdLst>
    <p:sldId xmlns:r="http://schemas.openxmlformats.org/officeDocument/2006/relationships" id="256" r:id="Rfadcd204179441b4"/>
    <p:sldId xmlns:r="http://schemas.openxmlformats.org/officeDocument/2006/relationships" id="257" r:id="R325b217504944c5c"/>
    <p:sldId xmlns:r="http://schemas.openxmlformats.org/officeDocument/2006/relationships" id="258" r:id="R921d9f6fba9c4d48"/>
    <p:sldId xmlns:r="http://schemas.openxmlformats.org/officeDocument/2006/relationships" id="259" r:id="R1b62a63372bd4457"/>
    <p:sldId xmlns:r="http://schemas.openxmlformats.org/officeDocument/2006/relationships" id="260" r:id="R9253d26ee2fd42f9"/>
    <p:sldId xmlns:r="http://schemas.openxmlformats.org/officeDocument/2006/relationships" id="261" r:id="Ree92a3f3cb634cb5"/>
    <p:sldId xmlns:r="http://schemas.openxmlformats.org/officeDocument/2006/relationships" id="262" r:id="Rae1c489045fb4672"/>
    <p:sldId xmlns:r="http://schemas.openxmlformats.org/officeDocument/2006/relationships" id="263" r:id="Rb9a62f9d4561474d"/>
    <p:sldId xmlns:r="http://schemas.openxmlformats.org/officeDocument/2006/relationships" id="264" r:id="Rac86f5deab604884"/>
    <p:sldId xmlns:r="http://schemas.openxmlformats.org/officeDocument/2006/relationships" id="265" r:id="Rf96f8e8877944245"/>
    <p:sldId xmlns:r="http://schemas.openxmlformats.org/officeDocument/2006/relationships" id="266" r:id="R1676602343ae4943"/>
    <p:sldId xmlns:r="http://schemas.openxmlformats.org/officeDocument/2006/relationships" id="267" r:id="R822e2a85564b46ee"/>
    <p:sldId xmlns:r="http://schemas.openxmlformats.org/officeDocument/2006/relationships" id="268" r:id="R0b7d6851779946aa"/>
    <p:sldId xmlns:r="http://schemas.openxmlformats.org/officeDocument/2006/relationships" id="269" r:id="Rfb5590a30b4e481a"/>
    <p:sldId xmlns:r="http://schemas.openxmlformats.org/officeDocument/2006/relationships" id="270" r:id="Ra3aac80498a646d8"/>
    <p:sldId xmlns:r="http://schemas.openxmlformats.org/officeDocument/2006/relationships" id="271" r:id="Rf309e31e7524454b"/>
    <p:sldId xmlns:r="http://schemas.openxmlformats.org/officeDocument/2006/relationships" id="272" r:id="R4474d5329c4e451e"/>
    <p:sldId xmlns:r="http://schemas.openxmlformats.org/officeDocument/2006/relationships" id="273" r:id="Rdfe1ef33562242a0"/>
    <p:sldId xmlns:r="http://schemas.openxmlformats.org/officeDocument/2006/relationships" id="274" r:id="R54394d8cafb345ee"/>
    <p:sldId xmlns:r="http://schemas.openxmlformats.org/officeDocument/2006/relationships" id="275" r:id="R946a9d545f1e4cd0"/>
    <p:sldId xmlns:r="http://schemas.openxmlformats.org/officeDocument/2006/relationships" id="276" r:id="Re5e3ed0cfa5340fa"/>
    <p:sldId xmlns:r="http://schemas.openxmlformats.org/officeDocument/2006/relationships" id="277" r:id="Rfdebeb516a064ebf"/>
    <p:sldId xmlns:r="http://schemas.openxmlformats.org/officeDocument/2006/relationships" id="278" r:id="R61112bddf28c4dbb"/>
    <p:sldId xmlns:r="http://schemas.openxmlformats.org/officeDocument/2006/relationships" id="279" r:id="Rd335b616039e4c5e"/>
    <p:sldId xmlns:r="http://schemas.openxmlformats.org/officeDocument/2006/relationships" id="280" r:id="R9f91e7dbb27b4e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11658c068e45a5" /><Relationship Type="http://schemas.openxmlformats.org/officeDocument/2006/relationships/slideMaster" Target="/ppt/slideMasters/slideMaster1.xml" Id="R8dbc75f119e14dd8" /><Relationship Type="http://schemas.openxmlformats.org/officeDocument/2006/relationships/notesMaster" Target="/ppt/notesMasters/notesMaster1.xml" Id="R045581e2d0bb46a7" /><Relationship Type="http://schemas.openxmlformats.org/officeDocument/2006/relationships/presProps" Target="/ppt/presProps.xml" Id="R7d3f87d9b7304fd8" /><Relationship Type="http://schemas.openxmlformats.org/officeDocument/2006/relationships/tableStyles" Target="/ppt/tableStyles.xml" Id="Rbdc0ab64ae0c4d8a" /><Relationship Type="http://schemas.openxmlformats.org/officeDocument/2006/relationships/slide" Target="/ppt/slides/slide1.xml" Id="Rfadcd204179441b4" /><Relationship Type="http://schemas.openxmlformats.org/officeDocument/2006/relationships/slide" Target="/ppt/slides/slide2.xml" Id="R325b217504944c5c" /><Relationship Type="http://schemas.openxmlformats.org/officeDocument/2006/relationships/slide" Target="/ppt/slides/slide3.xml" Id="R921d9f6fba9c4d48" /><Relationship Type="http://schemas.openxmlformats.org/officeDocument/2006/relationships/slide" Target="/ppt/slides/slide4.xml" Id="R1b62a63372bd4457" /><Relationship Type="http://schemas.openxmlformats.org/officeDocument/2006/relationships/slide" Target="/ppt/slides/slide5.xml" Id="R9253d26ee2fd42f9" /><Relationship Type="http://schemas.openxmlformats.org/officeDocument/2006/relationships/slide" Target="/ppt/slides/slide6.xml" Id="Ree92a3f3cb634cb5" /><Relationship Type="http://schemas.openxmlformats.org/officeDocument/2006/relationships/slide" Target="/ppt/slides/slide7.xml" Id="Rae1c489045fb4672" /><Relationship Type="http://schemas.openxmlformats.org/officeDocument/2006/relationships/slide" Target="/ppt/slides/slide8.xml" Id="Rb9a62f9d4561474d" /><Relationship Type="http://schemas.openxmlformats.org/officeDocument/2006/relationships/slide" Target="/ppt/slides/slide9.xml" Id="Rac86f5deab604884" /><Relationship Type="http://schemas.openxmlformats.org/officeDocument/2006/relationships/slide" Target="/ppt/slides/slide10.xml" Id="Rf96f8e8877944245" /><Relationship Type="http://schemas.openxmlformats.org/officeDocument/2006/relationships/slide" Target="/ppt/slides/slide11.xml" Id="R1676602343ae4943" /><Relationship Type="http://schemas.openxmlformats.org/officeDocument/2006/relationships/slide" Target="/ppt/slides/slide12.xml" Id="R822e2a85564b46ee" /><Relationship Type="http://schemas.openxmlformats.org/officeDocument/2006/relationships/slide" Target="/ppt/slides/slide13.xml" Id="R0b7d6851779946aa" /><Relationship Type="http://schemas.openxmlformats.org/officeDocument/2006/relationships/slide" Target="/ppt/slides/slide14.xml" Id="Rfb5590a30b4e481a" /><Relationship Type="http://schemas.openxmlformats.org/officeDocument/2006/relationships/slide" Target="/ppt/slides/slide15.xml" Id="Ra3aac80498a646d8" /><Relationship Type="http://schemas.openxmlformats.org/officeDocument/2006/relationships/slide" Target="/ppt/slides/slide16.xml" Id="Rf309e31e7524454b" /><Relationship Type="http://schemas.openxmlformats.org/officeDocument/2006/relationships/slide" Target="/ppt/slides/slide17.xml" Id="R4474d5329c4e451e" /><Relationship Type="http://schemas.openxmlformats.org/officeDocument/2006/relationships/slide" Target="/ppt/slides/slide18.xml" Id="Rdfe1ef33562242a0" /><Relationship Type="http://schemas.openxmlformats.org/officeDocument/2006/relationships/slide" Target="/ppt/slides/slide19.xml" Id="R54394d8cafb345ee" /><Relationship Type="http://schemas.openxmlformats.org/officeDocument/2006/relationships/slide" Target="/ppt/slides/slide20.xml" Id="R946a9d545f1e4cd0" /><Relationship Type="http://schemas.openxmlformats.org/officeDocument/2006/relationships/slide" Target="/ppt/slides/slide21.xml" Id="Re5e3ed0cfa5340fa" /><Relationship Type="http://schemas.openxmlformats.org/officeDocument/2006/relationships/slide" Target="/ppt/slides/slide22.xml" Id="Rfdebeb516a064ebf" /><Relationship Type="http://schemas.openxmlformats.org/officeDocument/2006/relationships/slide" Target="/ppt/slides/slide23.xml" Id="R61112bddf28c4dbb" /><Relationship Type="http://schemas.openxmlformats.org/officeDocument/2006/relationships/slide" Target="/ppt/slides/slide24.xml" Id="Rd335b616039e4c5e" /><Relationship Type="http://schemas.openxmlformats.org/officeDocument/2006/relationships/slide" Target="/ppt/slides/slide25.xml" Id="R9f91e7dbb27b4e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a51ef3785d40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045ad427f24a10" /><Relationship Type="http://schemas.openxmlformats.org/officeDocument/2006/relationships/notesMaster" Target="/ppt/notesMasters/notesMaster1.xml" Id="Rbab8a2b3b00e43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eef4229cf94b31" /><Relationship Type="http://schemas.openxmlformats.org/officeDocument/2006/relationships/notesMaster" Target="/ppt/notesMasters/notesMaster1.xml" Id="Rcb188014e6314a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170b0aeb154cac" /><Relationship Type="http://schemas.openxmlformats.org/officeDocument/2006/relationships/notesMaster" Target="/ppt/notesMasters/notesMaster1.xml" Id="R2684e44f6da949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066237ea0f4d51" /><Relationship Type="http://schemas.openxmlformats.org/officeDocument/2006/relationships/notesMaster" Target="/ppt/notesMasters/notesMaster1.xml" Id="Rc2db32fd222648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a21dbc6ac549f1" /><Relationship Type="http://schemas.openxmlformats.org/officeDocument/2006/relationships/notesMaster" Target="/ppt/notesMasters/notesMaster1.xml" Id="R329fbc0009be48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19b812447f459e" /><Relationship Type="http://schemas.openxmlformats.org/officeDocument/2006/relationships/notesMaster" Target="/ppt/notesMasters/notesMaster1.xml" Id="R6fb6076d5c4643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301b7072144c86" /><Relationship Type="http://schemas.openxmlformats.org/officeDocument/2006/relationships/notesMaster" Target="/ppt/notesMasters/notesMaster1.xml" Id="R9cbbbd6f032847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1fb021c4bd74324" /><Relationship Type="http://schemas.openxmlformats.org/officeDocument/2006/relationships/notesMaster" Target="/ppt/notesMasters/notesMaster1.xml" Id="R2fa920885cd64f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fb32ae599f244a0" /><Relationship Type="http://schemas.openxmlformats.org/officeDocument/2006/relationships/notesMaster" Target="/ppt/notesMasters/notesMaster1.xml" Id="R6a3f11bc437d42a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f44c6424fb44077" /><Relationship Type="http://schemas.openxmlformats.org/officeDocument/2006/relationships/notesMaster" Target="/ppt/notesMasters/notesMaster1.xml" Id="R7ef02f75a952425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e02790bf0dc4309" /><Relationship Type="http://schemas.openxmlformats.org/officeDocument/2006/relationships/notesMaster" Target="/ppt/notesMasters/notesMaster1.xml" Id="Re4d8ca72cd6d415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eaa81f8460b4aa0" /><Relationship Type="http://schemas.openxmlformats.org/officeDocument/2006/relationships/notesMaster" Target="/ppt/notesMasters/notesMaster1.xml" Id="Rbd75db61c7b84f7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5e9a9cdb35c45f5" /><Relationship Type="http://schemas.openxmlformats.org/officeDocument/2006/relationships/notesMaster" Target="/ppt/notesMasters/notesMaster1.xml" Id="R6ec60e744af24c5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7eacaf540b44d31" /><Relationship Type="http://schemas.openxmlformats.org/officeDocument/2006/relationships/notesMaster" Target="/ppt/notesMasters/notesMaster1.xml" Id="Re6715266fdb9499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281daf00b834897" /><Relationship Type="http://schemas.openxmlformats.org/officeDocument/2006/relationships/notesMaster" Target="/ppt/notesMasters/notesMaster1.xml" Id="Rc2d7e674aa044e3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a78a8bad54c4f34" /><Relationship Type="http://schemas.openxmlformats.org/officeDocument/2006/relationships/notesMaster" Target="/ppt/notesMasters/notesMaster1.xml" Id="R9874da4f6806486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a4e9212922a498b" /><Relationship Type="http://schemas.openxmlformats.org/officeDocument/2006/relationships/notesMaster" Target="/ppt/notesMasters/notesMaster1.xml" Id="R809543d531c24fe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03d320b49d64ce2" /><Relationship Type="http://schemas.openxmlformats.org/officeDocument/2006/relationships/notesMaster" Target="/ppt/notesMasters/notesMaster1.xml" Id="R5ff26c882f234ef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4369ab4bb3d444c" /><Relationship Type="http://schemas.openxmlformats.org/officeDocument/2006/relationships/notesMaster" Target="/ppt/notesMasters/notesMaster1.xml" Id="R9bcbfb77926040a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58c2ab93e6b43f1" /><Relationship Type="http://schemas.openxmlformats.org/officeDocument/2006/relationships/notesMaster" Target="/ppt/notesMasters/notesMaster1.xml" Id="R13079a589c3f4de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83f6c89def44fec" /><Relationship Type="http://schemas.openxmlformats.org/officeDocument/2006/relationships/notesMaster" Target="/ppt/notesMasters/notesMaster1.xml" Id="R6864492a212c494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bc9a9cf94b24e38" /><Relationship Type="http://schemas.openxmlformats.org/officeDocument/2006/relationships/notesMaster" Target="/ppt/notesMasters/notesMaster1.xml" Id="R47cc4801c479454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938c17cfdb74257" /><Relationship Type="http://schemas.openxmlformats.org/officeDocument/2006/relationships/notesMaster" Target="/ppt/notesMasters/notesMaster1.xml" Id="R6c9c942950a64c2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846704a9e404817" /><Relationship Type="http://schemas.openxmlformats.org/officeDocument/2006/relationships/notesMaster" Target="/ppt/notesMasters/notesMaster1.xml" Id="Rffa8658dc184467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4f48dd518c54cf7" /><Relationship Type="http://schemas.openxmlformats.org/officeDocument/2006/relationships/notesMaster" Target="/ppt/notesMasters/notesMaster1.xml" Id="R12be72d34b064e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보고서의 프로젝트 정의와 팀 정보를 그대로 소개합니다.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AI·SW마에스트로 제17기 서울센터 369팀 프로젝트 중간보고서, 표지·프로젝트 요약</a:t>
            </a:r>
          </a:p>
          <a:p xmlns:a="http://schemas.openxmlformats.org/drawingml/2006/main">
            <a:r>
              <a:t>- Local export: C:\Users\samsung\Desktop\Git Repositories\Laimory-wiki\tmp\pdfs\2026-08-16-midterm-review\laimory-midterm-report-v3.pdf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시장 수치는 중간보고서가 인용한 Straits Research 기준입니다.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AI·SW마에스트로 제17기 서울센터 369팀 프로젝트 중간보고서, p.4-5</a:t>
            </a:r>
          </a:p>
          <a:p xmlns:a="http://schemas.openxmlformats.org/drawingml/2006/main">
            <a:r>
              <a:t>- Local export: C:\Users\samsung\Desktop\Git Repositories\Laimory-wiki\tmp\pdfs\2026-08-16-midterm-review\laimory-midterm-report-v3.pdf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문제 인식과 기획 의도를 보고서 표현에 맞추어 압축합니다.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AI·SW마에스트로 제17기 서울센터 369팀 프로젝트 중간보고서, p.4-5</a:t>
            </a:r>
          </a:p>
          <a:p xmlns:a="http://schemas.openxmlformats.org/drawingml/2006/main">
            <a:r>
              <a:t>- Local export: C:\Users\samsung\Desktop\Git Repositories\Laimory-wiki\tmp\pdfs\2026-08-16-midterm-review\laimory-midterm-report-v3.pdf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 기능을 소개하되 보고서가 규정한 MVP 범위를 분리해 말합니다.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AI·SW마에스트로 제17기 서울센터 369팀 프로젝트 중간보고서, p.5-6, p.10</a:t>
            </a:r>
          </a:p>
          <a:p xmlns:a="http://schemas.openxmlformats.org/drawingml/2006/main">
            <a:r>
              <a:t>- Local export: C:\Users\samsung\Desktop\Git Repositories\Laimory-wiki\tmp\pdfs\2026-08-16-midterm-review\laimory-midterm-report-v3.pdf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수치는 중간보고서에 기재된 국내 캠페인 및 서비스 사례를 그대로 사용합니다.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AI·SW마에스트로 제17기 서울센터 369팀 프로젝트 중간보고서, p.5-6</a:t>
            </a:r>
          </a:p>
          <a:p xmlns:a="http://schemas.openxmlformats.org/drawingml/2006/main">
            <a:r>
              <a:t>- Local export: C:\Users\samsung\Desktop\Git Repositories\Laimory-wiki\tmp\pdfs\2026-08-16-midterm-review\laimory-midterm-report-v3.pdf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보고서의 페르소나와 First Value Action 정의를 소개합니다.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AI·SW마에스트로 제17기 서울센터 369팀 프로젝트 중간보고서, p.5, p.22</a:t>
            </a:r>
          </a:p>
          <a:p xmlns:a="http://schemas.openxmlformats.org/drawingml/2006/main">
            <a:r>
              <a:t>- Local export: C:\Users\samsung\Desktop\Git Repositories\Laimory-wiki\tmp\pdfs\2026-08-16-midterm-review\laimory-midterm-report-v3.pdf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보고서가 설명한 핵심 사용자 흐름과 현재 구현 범위를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AI·SW마에스트로 제17기 서울센터 369팀 프로젝트 중간보고서, p.13-14, p.22</a:t>
            </a:r>
          </a:p>
          <a:p xmlns:a="http://schemas.openxmlformats.org/drawingml/2006/main">
            <a:r>
              <a:t>- Local export: C:\Users\samsung\Desktop\Git Repositories\Laimory-wiki\tmp\pdfs\2026-08-16-midterm-review\laimory-midterm-report-v3.pdf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상태를 완료된 범위와 추가 검증 예정 범위로 구분해서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AI·SW마에스트로 제17기 서울센터 369팀 프로젝트 중간보고서, p.13-14</a:t>
            </a:r>
          </a:p>
          <a:p xmlns:a="http://schemas.openxmlformats.org/drawingml/2006/main">
            <a:r>
              <a:t>- Local export: C:\Users\samsung\Desktop\Git Repositories\Laimory-wiki\tmp\pdfs\2026-08-16-midterm-review\laimory-midterm-report-v3.pdf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모바일 파트의 구현 내용과 베타 전 검증 계획을 보고서 순서대로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AI·SW마에스트로 제17기 서울센터 369팀 프로젝트 중간보고서, p.13-14</a:t>
            </a:r>
          </a:p>
          <a:p xmlns:a="http://schemas.openxmlformats.org/drawingml/2006/main">
            <a:r>
              <a:t>- Local export: C:\Users\samsung\Desktop\Git Repositories\Laimory-wiki\tmp\pdfs\2026-08-16-midterm-review\laimory-midterm-report-v3.pdf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전체 구성도는 중간보고서 이미지를 그대로 사용합니다.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AI·SW마에스트로 제17기 서울센터 369팀 프로젝트 중간보고서, p.7, p.11, p.14</a:t>
            </a:r>
          </a:p>
          <a:p xmlns:a="http://schemas.openxmlformats.org/drawingml/2006/main">
            <a:r>
              <a:t>- Local export: C:\Users\samsung\Desktop\Git Repositories\Laimory-wiki\tmp\pdfs\2026-08-16-midterm-review\laimory-midterm-report-v3.pdf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서버 파트에서 보고서가 집중적으로 다룬 두 가지 개선 중 첫 번째입니다.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AI·SW마에스트로 제17기 서울센터 369팀 프로젝트 중간보고서, p.14</a:t>
            </a:r>
          </a:p>
          <a:p xmlns:a="http://schemas.openxmlformats.org/drawingml/2006/main">
            <a:r>
              <a:t>- Local export: C:\Users\samsung\Desktop\Git Repositories\Laimory-wiki\tmp\pdfs\2026-08-16-midterm-review\laimory-midterm-report-v3.pdf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서버 파트의 두 번째 핵심 개선인 사용자 비식별화 구조를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AI·SW마에스트로 제17기 서울센터 369팀 프로젝트 중간보고서, p.14-15</a:t>
            </a:r>
          </a:p>
          <a:p xmlns:a="http://schemas.openxmlformats.org/drawingml/2006/main">
            <a:r>
              <a:t>- Local export: C:\Users\samsung\Desktop\Git Repositories\Laimory-wiki\tmp\pdfs\2026-08-16-midterm-review\laimory-midterm-report-v3.pdf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파이프라인 이미지는 중간보고서의 도식을 그대로 사용합니다.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AI·SW마에스트로 제17기 서울센터 369팀 프로젝트 중간보고서, p.16-17</a:t>
            </a:r>
          </a:p>
          <a:p xmlns:a="http://schemas.openxmlformats.org/drawingml/2006/main">
            <a:r>
              <a:t>- Local export: C:\Users\samsung\Desktop\Git Repositories\Laimory-wiki\tmp\pdfs\2026-08-16-midterm-review\laimory-midterm-report-v3.pdf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정량 기준과 결정론적 도구, User Memory를 하나의 품질 관리 구조로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AI·SW마에스트로 제17기 서울센터 369팀 프로젝트 중간보고서, p.17-20</a:t>
            </a:r>
          </a:p>
          <a:p xmlns:a="http://schemas.openxmlformats.org/drawingml/2006/main">
            <a:r>
              <a:t>- Local export: C:\Users\samsung\Desktop\Git Repositories\Laimory-wiki\tmp\pdfs\2026-08-16-midterm-review\laimory-midterm-report-v3.pdf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Evaluation System 화면은 중간보고서의 실제 캡처를 사용합니다.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AI·SW마에스트로 제17기 서울센터 369팀 프로젝트 중간보고서, p.20</a:t>
            </a:r>
          </a:p>
          <a:p xmlns:a="http://schemas.openxmlformats.org/drawingml/2006/main">
            <a:r>
              <a:t>- Local export: C:\Users\samsung\Desktop\Git Repositories\Laimory-wiki\tmp\pdfs\2026-08-16-midterm-review\laimory-midterm-report-v3.pdf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모바일 로그 수집과 서버·AI 관측 체계를 목적별로 분리해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AI·SW마에스트로 제17기 서울센터 369팀 프로젝트 중간보고서, p.7, p.11-12, p.17</a:t>
            </a:r>
          </a:p>
          <a:p xmlns:a="http://schemas.openxmlformats.org/drawingml/2006/main">
            <a:r>
              <a:t>- Local export: C:\Users\samsung\Desktop\Git Repositories\Laimory-wiki\tmp\pdfs\2026-08-16-midterm-review\laimory-midterm-report-v3.pdf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 구성과 수행 방법을 보고서의 역할 분담·협업 방식에 맞추어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AI·SW마에스트로 제17기 서울센터 369팀 프로젝트 중간보고서, p.9-12</a:t>
            </a:r>
          </a:p>
          <a:p xmlns:a="http://schemas.openxmlformats.org/drawingml/2006/main">
            <a:r>
              <a:t>- Local export: C:\Users\samsung\Desktop\Git Repositories\Laimory-wiki\tmp\pdfs\2026-08-16-midterm-review\laimory-midterm-report-v3.pdf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베타 테스트 일정, 모집 규모, 소구점, KPI를 보고서에 적힌 값으로 소개합니다.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AI·SW마에스트로 제17기 서울센터 369팀 프로젝트 중간보고서, p.21-24</a:t>
            </a:r>
          </a:p>
          <a:p xmlns:a="http://schemas.openxmlformats.org/drawingml/2006/main">
            <a:r>
              <a:t>- Local export: C:\Users\samsung\Desktop\Git Repositories\Laimory-wiki\tmp\pdfs\2026-08-16-midterm-review\laimory-midterm-report-v3.pdf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가격·운영비·손익분기 가정은 중간보고서에 기재된 수치를 그대로 사용합니다.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AI·SW마에스트로 제17기 서울센터 369팀 프로젝트 중간보고서, p.25-26</a:t>
            </a:r>
          </a:p>
          <a:p xmlns:a="http://schemas.openxmlformats.org/drawingml/2006/main">
            <a:r>
              <a:t>- Local export: C:\Users\samsung\Desktop\Git Repositories\Laimory-wiki\tmp\pdfs\2026-08-16-midterm-review\laimory-midterm-report-v3.pdf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추진 일정과 멘토 보완 의견을 결론으로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AI·SW마에스트로 제17기 서울센터 369팀 프로젝트 중간보고서, p.9-13, p.27-28</a:t>
            </a:r>
          </a:p>
          <a:p xmlns:a="http://schemas.openxmlformats.org/drawingml/2006/main">
            <a:r>
              <a:t>- Local export: C:\Users\samsung\Desktop\Git Repositories\Laimory-wiki\tmp\pdfs\2026-08-16-midterm-review\laimory-midterm-report-v3.pdf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질문이 들어오면 데이터별 입력과 AI의 사용 목적을 구체적으로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AI·SW마에스트로 제17기 서울센터 369팀 프로젝트 중간보고서, p.15-16</a:t>
            </a:r>
          </a:p>
          <a:p xmlns:a="http://schemas.openxmlformats.org/drawingml/2006/main">
            <a:r>
              <a:t>- Local export: C:\Users\samsung\Desktop\Git Repositories\Laimory-wiki\tmp\pdfs\2026-08-16-midterm-review\laimory-midterm-report-v3.pdf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모바일 검증 계획과 백엔드 멘토 의견을 합쳐 장애·복구 질문에 답합니다.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AI·SW마에스트로 제17기 서울센터 369팀 프로젝트 중간보고서, p.12-14, p.27-28</a:t>
            </a:r>
          </a:p>
          <a:p xmlns:a="http://schemas.openxmlformats.org/drawingml/2006/main">
            <a:r>
              <a:t>- Local export: C:\Users\samsung\Desktop\Git Repositories\Laimory-wiki\tmp\pdfs\2026-08-16-midterm-review\laimory-midterm-report-v3.pdf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KPI 정의와 확인 목적을 보고서 표에서 압축했습니다.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AI·SW마에스트로 제17기 서울센터 369팀 프로젝트 중간보고서, p.23-24</a:t>
            </a:r>
          </a:p>
          <a:p xmlns:a="http://schemas.openxmlformats.org/drawingml/2006/main">
            <a:r>
              <a:t>- Local export: C:\Users\samsung\Desktop\Git Repositories\Laimory-wiki\tmp\pdfs\2026-08-16-midterm-review\laimory-midterm-report-v3.pdf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상용화 비용과 손익분기 가정을 질의응답에서 사용할 수 있도록 정리합니다.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AI·SW마에스트로 제17기 서울센터 369팀 프로젝트 중간보고서, p.25-26</a:t>
            </a:r>
          </a:p>
          <a:p xmlns:a="http://schemas.openxmlformats.org/drawingml/2006/main">
            <a:r>
              <a:t>- Local export: C:\Users\samsung\Desktop\Git Repositories\Laimory-wiki\tmp\pdfs\2026-08-16-midterm-review\laimory-midterm-report-v3.pdf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담당 멘토 3인의 우수·보완·기타 의견과 기획심의 반영 내용을 질의응답용으로 정리합니다.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AI·SW마에스트로 제17기 서울센터 369팀 프로젝트 중간보고서, p.27-29</a:t>
            </a:r>
          </a:p>
          <a:p xmlns:a="http://schemas.openxmlformats.org/drawingml/2006/main">
            <a:r>
              <a:t>- Local export: C:\Users\samsung\Desktop\Git Repositories\Laimory-wiki\tmp\pdfs\2026-08-16-midterm-review\laimory-midterm-report-v3.pdf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dcf41442014c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1d7a9fd04843b7" /><Relationship Type="http://schemas.openxmlformats.org/officeDocument/2006/relationships/slideLayout" Target="/ppt/slideLayouts/slideLayout1.xml" Id="R53e3d5d616aa41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e3d5d616aa41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e61516dc4b446d" /><Relationship Type="http://schemas.openxmlformats.org/officeDocument/2006/relationships/notesSlide" Target="/ppt/notesSlides/notesSlide1.xml" Id="R1d10f32e25514a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f366e5e43641b1" /><Relationship Type="http://schemas.openxmlformats.org/officeDocument/2006/relationships/image" Target="/ppt/media/image.png" Id="R73a1ce0cf73f4c8f" /><Relationship Type="http://schemas.openxmlformats.org/officeDocument/2006/relationships/notesSlide" Target="/ppt/notesSlides/notesSlide2.xml" Id="R9952f9748e2244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bc7fef0374edd" /><Relationship Type="http://schemas.openxmlformats.org/officeDocument/2006/relationships/notesSlide" Target="/ppt/notesSlides/notesSlide3.xml" Id="R22f5ff0e76b249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9c38929f842e3" /><Relationship Type="http://schemas.openxmlformats.org/officeDocument/2006/relationships/notesSlide" Target="/ppt/notesSlides/notesSlide4.xml" Id="R48f6ee590be04c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cdc096c7e64602" /><Relationship Type="http://schemas.openxmlformats.org/officeDocument/2006/relationships/notesSlide" Target="/ppt/notesSlides/notesSlide5.xml" Id="Rbb89be9046224e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0774af3b84778" /><Relationship Type="http://schemas.openxmlformats.org/officeDocument/2006/relationships/notesSlide" Target="/ppt/notesSlides/notesSlide6.xml" Id="R10b0d3a3e3a04a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f76b623d4344a1" /><Relationship Type="http://schemas.openxmlformats.org/officeDocument/2006/relationships/notesSlide" Target="/ppt/notesSlides/notesSlide7.xml" Id="R244e255963df44c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69ab746044817" /><Relationship Type="http://schemas.openxmlformats.org/officeDocument/2006/relationships/notesSlide" Target="/ppt/notesSlides/notesSlide8.xml" Id="R7600b26f25974a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3492e40044fb7" /><Relationship Type="http://schemas.openxmlformats.org/officeDocument/2006/relationships/notesSlide" Target="/ppt/notesSlides/notesSlide9.xml" Id="R7b7c15b48d93497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7b126e2934c9f" /><Relationship Type="http://schemas.openxmlformats.org/officeDocument/2006/relationships/image" Target="/ppt/media/image2.png" Id="R3465a0acb37747d5" /><Relationship Type="http://schemas.openxmlformats.org/officeDocument/2006/relationships/notesSlide" Target="/ppt/notesSlides/notesSlide10.xml" Id="R1ac63441f32148b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4f810c05b4e32" /><Relationship Type="http://schemas.openxmlformats.org/officeDocument/2006/relationships/notesSlide" Target="/ppt/notesSlides/notesSlide11.xml" Id="Rac3d7524da3447f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c5ea0f7ac49e8" /><Relationship Type="http://schemas.openxmlformats.org/officeDocument/2006/relationships/notesSlide" Target="/ppt/notesSlides/notesSlide12.xml" Id="Rbe81f3eb3d83480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d19fdb05c94851" /><Relationship Type="http://schemas.openxmlformats.org/officeDocument/2006/relationships/image" Target="/ppt/media/image3.png" Id="Rd578f853aa5c43dc" /><Relationship Type="http://schemas.openxmlformats.org/officeDocument/2006/relationships/notesSlide" Target="/ppt/notesSlides/notesSlide13.xml" Id="R8c69d9c43ad346d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7cc3e17b09418d" /><Relationship Type="http://schemas.openxmlformats.org/officeDocument/2006/relationships/notesSlide" Target="/ppt/notesSlides/notesSlide14.xml" Id="R13a0df663efa495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06f1862dbc4b49" /><Relationship Type="http://schemas.openxmlformats.org/officeDocument/2006/relationships/image" Target="/ppt/media/image4.png" Id="R994b488a0e3c442a" /><Relationship Type="http://schemas.openxmlformats.org/officeDocument/2006/relationships/notesSlide" Target="/ppt/notesSlides/notesSlide15.xml" Id="R01d6a855ca98430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05ca8909b44000" /><Relationship Type="http://schemas.openxmlformats.org/officeDocument/2006/relationships/notesSlide" Target="/ppt/notesSlides/notesSlide16.xml" Id="R9802a03b405c480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32a81f4eb64532" /><Relationship Type="http://schemas.openxmlformats.org/officeDocument/2006/relationships/notesSlide" Target="/ppt/notesSlides/notesSlide17.xml" Id="R51c2822e380a4a5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12c0fe4eb34ea1" /><Relationship Type="http://schemas.openxmlformats.org/officeDocument/2006/relationships/notesSlide" Target="/ppt/notesSlides/notesSlide18.xml" Id="Rd3eaf006113e490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5ca3b04cfe4436" /><Relationship Type="http://schemas.openxmlformats.org/officeDocument/2006/relationships/notesSlide" Target="/ppt/notesSlides/notesSlide19.xml" Id="R176aa9dd81b24ae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8d925c55a64372" /><Relationship Type="http://schemas.openxmlformats.org/officeDocument/2006/relationships/notesSlide" Target="/ppt/notesSlides/notesSlide20.xml" Id="R428ac9af89f0460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713db45d344106" /><Relationship Type="http://schemas.openxmlformats.org/officeDocument/2006/relationships/notesSlide" Target="/ppt/notesSlides/notesSlide21.xml" Id="Rd05be4be89a64a4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232f5ec8948d0" /><Relationship Type="http://schemas.openxmlformats.org/officeDocument/2006/relationships/notesSlide" Target="/ppt/notesSlides/notesSlide22.xml" Id="R73c54616af364a2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f33ca4fa28497f" /><Relationship Type="http://schemas.openxmlformats.org/officeDocument/2006/relationships/notesSlide" Target="/ppt/notesSlides/notesSlide23.xml" Id="R8ee4ed64ce324e4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8c3e468aba41d2" /><Relationship Type="http://schemas.openxmlformats.org/officeDocument/2006/relationships/notesSlide" Target="/ppt/notesSlides/notesSlide24.xml" Id="Rb19ada096f8749f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81a51c0ea458f" /><Relationship Type="http://schemas.openxmlformats.org/officeDocument/2006/relationships/notesSlide" Target="/ppt/notesSlides/notesSlide25.xml" Id="R4c70062612ed472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017577-0C5E-4227-81E9-E224E57A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2B2444-0FF8-40A3-9A84-ACCEEB9B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AI·SW마에스트로 제17기 서울센터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8C493D-46DA-4C17-9048-C17484F2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5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Laimory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17A52F-CC95-490B-93C1-4BDB8701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나의 삶을 기억하는 Personal AI Memory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95D422-5904-42AE-A038-6E478B9C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93D92B-7338-4CAC-8009-5DD3E6B3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프로젝트 중간점검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AE2CAD-7017-482C-BE03-EE350959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369팀 · 이동건 · 정수현 · 전형선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7CF5B1-21E7-4ADD-9B40-7CE25C18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781050"/>
            <a:ext cx="2819400" cy="4876800"/>
          </a:xfrm>
          <a:prstGeom xmlns:a="http://schemas.openxmlformats.org/drawingml/2006/main" prst="roundRect">
            <a:avLst>
              <a:gd name="adj" fmla="val 6081"/>
            </a:avLst>
          </a:prstGeom>
          <a:solidFill xmlns:a="http://schemas.openxmlformats.org/drawingml/2006/main">
            <a:srgbClr val="E7F3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E7A202-DA94-4B59-9717-2BED2D16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56210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Life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968934-BAE1-4F8B-9143-816FBB5E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4315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+ 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A980A6-B029-494F-B342-8B33E98C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24200"/>
            <a:ext cx="2324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+ Memory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A13D96-5B3B-43EC-B239-7D3BC654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924300"/>
            <a:ext cx="1676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B86FBD-C08E-4CE4-9A51-64857E56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22910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하루의 데이터가</a:t>
            </a:r>
          </a:p>
          <a:p xmlns:a="http://schemas.openxmlformats.org/drawingml/2006/main">
            <a:pPr algn="l">
              <a:defRPr sz="17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기억과 성장으로 연결됩니다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7C803A-9735-46CE-98D7-C3328396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7BCA8E-0BCB-41BF-B14A-933ACBB8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AI·SW마에스트로 제17기 · 369팀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33462A-394A-4D51-8CE0-DECCC513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939847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20B26F-0C96-4368-9ECC-4F62F12E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PROJECT MIDTERM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11C64-54D2-44BC-A3E9-5917A725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기록 수요는 커졌지만 일상 데이터는 여전히 흩어져 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953B89-FB05-4B80-B1C9-C9E1A7EA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853DD-408F-46A6-9720-C0DB9FFA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AI·SW마에스트로 제17기 · 369팀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C77A1C-3CB2-4E3D-94B4-9E190946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D5720C-919F-4DA3-830B-5857F94A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04950"/>
            <a:ext cx="6896100" cy="2609850"/>
          </a:xfrm>
          <a:prstGeom xmlns:a="http://schemas.openxmlformats.org/drawingml/2006/main" prst="roundRect">
            <a:avLst>
              <a:gd name="adj" fmla="val 43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a1ce0cf73f4c8f"/>
          <a:srcRect xmlns:a="http://schemas.openxmlformats.org/drawingml/2006/main" l="0" t="1151" r="0" b="11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524000"/>
            <a:ext cx="6858000" cy="2571750"/>
          </a:xfrm>
          <a:prstGeom xmlns:a="http://schemas.openxmlformats.org/drawingml/2006/main" prst="roundRect">
            <a:avLst>
              <a:gd name="adj" fmla="val 370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F315F9-2BA5-4FE9-B159-163EB791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19250"/>
            <a:ext cx="1666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68731D-87DF-459B-AF2B-7B47D5C8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90700"/>
            <a:ext cx="1666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$5.1B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B3C82A-B6B3-45B9-941E-0A47A804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166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2024 디지털 저널 앱 시장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303A5C-3A69-42B5-945C-F028FB30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14650"/>
            <a:ext cx="1666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보고서 인용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8F1C03-B714-45CA-A243-1D93A37B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619250"/>
            <a:ext cx="1666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815947-935C-4212-B769-4714B7A6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90700"/>
            <a:ext cx="1666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A36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5A36D"/>
                </a:solidFill>
                <a:latin typeface="Malgun Gothic"/>
                <a:ea typeface="Malgun Gothic"/>
                <a:cs typeface="Malgun Gothic"/>
              </a:rPr>
              <a:t>$12.28B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A88632-E141-43DB-9FD4-DD87546F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81250"/>
            <a:ext cx="166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2033 전망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69A9DE-C594-45D8-930B-79CB06B0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14650"/>
            <a:ext cx="1666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연평균 10.1%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8ACEAB-CEC1-4CB8-A407-7F6FEB50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19500"/>
            <a:ext cx="3667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사진·위치·일정·메모는 모바일에 남지만 서비스별로 파편화됩니다. 사용자는 하루를 기록하기 위해 다시 탐색하고 연결해야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7055816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7B0AD6-E662-4E66-AA14-8BF06FCE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PROJECT MIDTERM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2E338C-B3FB-4C8B-978E-FAD1BE2B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직접 입력 부담과 맥락 부족이 장기적인 기록을 막는다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810EA8-35A2-49F0-B2C5-65BE2F0B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BBC55A-1D13-4DE8-A8E7-97DE3EB6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AI·SW마에스트로 제17기 · 369팀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DA5186-A8C2-486F-A5CB-AB0446F4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5DE253-A0D1-4D36-8120-1DB98DDA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514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FBF8A9-2018-4DF5-B8E7-AD26E21D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개인 기록의 문제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C2728C-3FC3-41BB-807D-710CEB2E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47900"/>
            <a:ext cx="5143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사용자가 사진·일정·감정을 직접 회상하고 처음부터 작성해야 하므로 시간적·인지적 비용이 큽니다. 경제적 보상이 있는 주간 일기 챌린지도 6개월 이상 지속 비율은 15%에 그쳤습니다.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756310-E03D-478B-9D5C-D91E6CEC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00200"/>
            <a:ext cx="514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86C66E-FDAD-48E3-A466-6B41741A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7165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기존 AI의 문제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F7011E-5EF6-4B93-99DD-CAAF01C1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47900"/>
            <a:ext cx="5143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대화와 파일 맥락은 다루지만 사진·위치·일정처럼 실제 삶의 데이터를 통합적으로 이해하지 못해 기억 복원과 장기 생활 패턴 분석에 한계가 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6D763A-7CFA-4424-9CB4-DE4D0628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71950"/>
            <a:ext cx="111633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7F3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5A0228-4966-4D1F-9685-72BDB030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기획 의도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34EBA5-E190-435E-9C58-354943E0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40055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모바일 기기에 흩어진 생활 데이터를 자동으로 연결·통합해 하루를 타임라인으로 정리하고, 사용자가 데이터 탐색과 정리에 쓰는 부담을 줄인다.</a:t>
            </a:r>
          </a:p>
        </p:txBody>
      </p:sp>
    </p:spTree>
    <p:extLst>
      <p:ext uri="{BB962C8B-B14F-4D97-AF65-F5344CB8AC3E}">
        <p14:creationId xmlns:p14="http://schemas.microsoft.com/office/powerpoint/2010/main" val="6409736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2FE5A8-7528-4131-8B8F-4F307889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PROJECT MIDTERM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2D32E4-529F-4CBB-AE2E-8E8B8202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Laimory는 모바일 데이터를 하루의 맥락으로 연결한다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7A1908-DE7E-4676-A8BA-81225BEE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F045B9-2E33-406D-A78D-9E0449C0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AI·SW마에스트로 제17기 · 369팀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0D76FF-5BBD-484E-AA30-31468F80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D5D7D5-64C9-483F-8100-BE602418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905375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9D21CA-1193-4335-8308-F9DFB0B4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8387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1F670D-B57B-438F-9A80-CB88DEFA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8387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5D32D9-AE9F-4F2E-942A-273F5C48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387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A19529-6073-4EAD-83E2-BFD15E2C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3333750" cy="2000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7F3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8337D4-9342-4C7E-ADCB-BC0AAB94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C87154-ED8B-4BE0-93C7-FD481F71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하루 타임라인 기록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D7E297-1B1E-42C0-8C07-4AD11660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사진·일정·GPS·건강·알림을 연결해 초안을 만들고 사용자가 수정·메모·확정합니다.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AA7CB0-8F32-4002-BBBC-81A34483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19250"/>
            <a:ext cx="3333750" cy="2000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4244D7-1BF8-4F24-AABA-C7412F57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7907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5B7777-7D1A-4177-8216-33BEBFA8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1526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일상 기반 목표 추적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A0970A-401F-4441-8FAA-CFB9BD1C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0985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확정된 타임라인과 일기에서 목표 관련 행동을 확인하고 질문과 리마인드를 제공합니다.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5903F1-EFF6-402A-8C8C-64C6A748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19250"/>
            <a:ext cx="3333750" cy="2000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1AC11B-5F84-475D-BEBF-FEC5593E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907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D31AB9-A6CD-4DC7-956E-C90AFADD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526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일상 기반 AI 대화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E014F7-24C4-496A-B79D-15DFF6E8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0985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충분한 데이터가 쌓인 뒤 하루·주·월을 검색하고 기억·패턴·변화를 회고합니다.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095C87-5297-44E5-B3D3-4B4E1138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MVP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4588D1-1A13-4264-827D-830AB8E5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959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중간보고서의 MVP 범위는 하루 타임라인 기록과 일상 기반 목표 추적입니다.</a:t>
            </a:r>
          </a:p>
        </p:txBody>
      </p:sp>
    </p:spTree>
    <p:extLst>
      <p:ext uri="{BB962C8B-B14F-4D97-AF65-F5344CB8AC3E}">
        <p14:creationId xmlns:p14="http://schemas.microsoft.com/office/powerpoint/2010/main" val="6598045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1EA067-D995-48AE-8218-7301E9E8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PROJECT MIDTERM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B49AC-1B10-4CF7-81A2-CDCE3E10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기존 서비스는 기록을 돕지만 삶의 데이터를 자동 연결하지 못한다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85D5E5-3E6F-46F0-BBEC-CEA092FF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84C53B-3519-43CA-986F-2FF1A1A5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AI·SW마에스트로 제17기 · 369팀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37FEDF-419A-49BC-8080-E7679335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886BA5-0AE6-42A9-B673-DF6D0B82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02928A-9896-46CB-A40D-BC92A0FA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4307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103만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EE9B28-52CB-4253-80A7-8CE52278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네이버 주간일기 참여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06221A-54B3-43A3-8846-1ADDF828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67025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14만 명이 6개월 지속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5C2683-2A93-4871-8C45-E90E33D3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71625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606B6D-7FF9-4F96-BEA5-1ED1386B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4307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5A36D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5A36D"/>
                </a:solidFill>
                <a:latin typeface="Malgun Gothic"/>
                <a:ea typeface="Malgun Gothic"/>
                <a:cs typeface="Malgun Gothic"/>
              </a:rPr>
              <a:t>66만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5D2090-F4F7-4729-8B4C-85C5A177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3362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포토덤프 참여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AE2E45-0A75-4674-B0DA-B761A8EC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67025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6,200만 장 업로드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6451A5-571A-4F9D-BB7E-749B1094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571625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B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3F6800-5EB2-4950-9EDB-439E9EAA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74307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E58B2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E58B2A"/>
                </a:solidFill>
                <a:latin typeface="Malgun Gothic"/>
                <a:ea typeface="Malgun Gothic"/>
                <a:cs typeface="Malgun Gothic"/>
              </a:rPr>
              <a:t>50만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56521F-2909-4E72-8C0B-53DC449B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33362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마이모리 누적 다운로드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CCB04D-E2C3-4FDF-8B2A-DDFECE50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867025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출시 1년 기준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38784C-5333-4D0D-BC72-7913AEE1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581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유사 서비스 유형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87F3F0-0FBD-46C2-BDD1-C75AEB5F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38350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• 웨어러블 기반 자동 로깅</a:t>
            </a:r>
          </a:p>
          <a:p xmlns:a="http://schemas.openxmlformats.org/drawingml/2006/main">
            <a:pPr algn="l">
              <a:defRPr sz="157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• AI 저널링·감정 기록</a:t>
            </a:r>
          </a:p>
          <a:p xmlns:a="http://schemas.openxmlformats.org/drawingml/2006/main">
            <a:pPr algn="l">
              <a:defRPr sz="157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• 플랫폼 기반 저널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6714A7-D0B9-4326-87D2-F4F83970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623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1D6B35-632A-4570-81EE-AD77C003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386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자동 수집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BD2C59-1271-4A71-A42F-D8A8893A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386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기존: 웨어러블 또는 특정 생태계 의존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597812-1B80-424F-8207-58EB75DD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38600"/>
            <a:ext cx="424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Laimory: 사용자가 이미 보유한 모바일 데이터 활용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7EA1FF-6A62-4144-B171-A66E4229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91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기록 완성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81D5A8-5906-4B87-9654-CEF53852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910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기존: 최종 기록은 수동 작성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F6BE3F-FD6B-4727-A76D-6F50E863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91050"/>
            <a:ext cx="424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Laimory: AI 초안 후 사용자가 수정·확정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F31218-724E-4F6A-9CC2-92748D1C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장기 맥락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480031-C373-404E-A655-9057B6EB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1435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기존: 단일 기록·감정 분석 중심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00AB9D-BCA7-4EDB-ACF2-9AA26CCA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43500"/>
            <a:ext cx="4248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Laimory: 목표 추적과 Personal AI Memory로 확장</a:t>
            </a:r>
          </a:p>
        </p:txBody>
      </p:sp>
    </p:spTree>
    <p:extLst>
      <p:ext uri="{BB962C8B-B14F-4D97-AF65-F5344CB8AC3E}">
        <p14:creationId xmlns:p14="http://schemas.microsoft.com/office/powerpoint/2010/main" val="21058060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79B595-C504-4C1D-B0ED-18658712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PROJECT MIDTERM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363427-5D7B-4755-9DD8-A371CA0B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핵심 사용자는 기록하고 싶지만 정리할 시간이 부족한 직장인이다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35EA3-E51B-4857-8773-51B6859C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4A47F-E239-4159-8B24-C31C78C4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AI·SW마에스트로 제17기 · 369팀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34EA71-9C9B-4F5D-AFDD-558BEC9F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1B4B86-3D7E-4C3D-AFB6-83A6EBD2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3905250" cy="3886200"/>
          </a:xfrm>
          <a:prstGeom xmlns:a="http://schemas.openxmlformats.org/drawingml/2006/main" prst="roundRect">
            <a:avLst>
              <a:gd name="adj" fmla="val 3431"/>
            </a:avLst>
          </a:prstGeom>
          <a:solidFill xmlns:a="http://schemas.openxmlformats.org/drawingml/2006/main">
            <a:srgbClr val="E7F3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D7B50-F9B9-43EB-B108-ACDDCC73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20대 후반~30대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5BF31A-33B5-4D14-B19B-D85D5011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사회초년생·저연차 직장인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9F3605-ADD5-4E75-8378-60B6E1F3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31623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• 사진과 일정으로 흔적을 남김</a:t>
            </a:r>
          </a:p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• 일기·메모 경험이 있음</a:t>
            </a:r>
          </a:p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• 하루 기록에는 피로를 느낌</a:t>
            </a:r>
          </a:p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• 생활 패턴과 장기 흐름을 알고 싶음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D3C5AC-F9C2-4404-A382-59448B32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57350"/>
            <a:ext cx="9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968104-2FA3-44AA-8534-AAD3CBA8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6383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첫 가치 행동 First Value 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1C55B0-4F65-4C87-9C32-909B5E7C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09800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생성된 타임라인을 확인하고, 필요한 경우 수정한 뒤, 첫 일간 회고 작성을 완료한다.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D8FA40-2FFB-4FAB-8147-9BB35366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9570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AF4CE4-07D0-45A3-AC8E-547BACE3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624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왜 이 행동인가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EB62CB-AC0C-4096-85DC-524E3440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0055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AI가 만든 초안을 단순히 보는 것이 아니라 사용자가 자신의 기록으로 받아들이고 회고까지 완성한 순간이기 때문입니다.</a:t>
            </a:r>
          </a:p>
        </p:txBody>
      </p:sp>
    </p:spTree>
    <p:extLst>
      <p:ext uri="{BB962C8B-B14F-4D97-AF65-F5344CB8AC3E}">
        <p14:creationId xmlns:p14="http://schemas.microsoft.com/office/powerpoint/2010/main" val="10251140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B0B2B1-99F1-4C8A-87B4-D2C3F058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PROJECT MIDTERM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F07B0-EC49-4AB5-80AB-E6F698F6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MVP는 데이터 수집부터 첫 일간 회고 완료까지 연결한다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2E44DD-76DE-46A5-84C6-328D1FCC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0BFC4E-B68D-47B8-BDA2-5CEB957F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AI·SW마에스트로 제17기 · 369팀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DD49F-3842-4EA1-8368-C65BE3C8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D6FE0B-4643-4AEE-86D0-6DC0B9FA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09925"/>
            <a:ext cx="971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9B8D82-481E-4863-AA57-69EEA754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05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7AC39A-6E40-4643-94B2-D5C99E83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66A55D-1716-4F21-8178-7A839287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권한·데이터 선택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27C551-6A44-4FF8-86EB-A4032DC2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90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허용한 데이터만 수집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54E57C-1524-45A5-A4E1-FACF0697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05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65B63F-34CC-4481-9F33-4C2E8FEE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145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A9B454-6FFF-413A-B5CC-74BC62F9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3360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AI 타임라인 생성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8566AE-8960-4D57-80FB-C7F76B27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38550"/>
            <a:ext cx="190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비동기 작업·완료 알림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4B9BE8-D5D8-424D-A52F-D6E0430F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105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34670B-10BF-462C-A690-B1FB064C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145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06AE76-2AE5-4528-BBBF-9CD29D37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3360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결과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F9ABF0-40C1-4A41-8841-38D46E34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38550"/>
            <a:ext cx="190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사건·시간·사진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33D627-78EC-47AA-84A7-D790404A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05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FDA7AE-6649-4454-A310-4ABEFF53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7145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A6110E-8353-44AD-99CE-8C26AA85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3360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수정·메모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1BDA57-1B42-45C1-A87A-EA24890C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38550"/>
            <a:ext cx="190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삭제와 감정·배움 보완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C9C4DE-96F4-44FC-905A-ABE67EBD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105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131FB3-33D2-45D2-9E42-D9CB919C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145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74C99C-F808-4365-A8A7-A2C7628F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3360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회고 완료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9F1296-AA8E-4458-AB15-A7AF47C7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638550"/>
            <a:ext cx="190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사용자의 최종 기록 저장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608F5B-DEF4-42FA-B8C8-E6BEB346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72050"/>
            <a:ext cx="1116330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E7D4AE-ACA9-4BB7-95CE-2485E303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현재 구현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138164-937E-4247-AE90-F911D125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181600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로그인 → 권한 설정·수집 → AI 타임라인 생성·편집·확정 → 월별 기록 조회</a:t>
            </a:r>
          </a:p>
        </p:txBody>
      </p:sp>
    </p:spTree>
    <p:extLst>
      <p:ext uri="{BB962C8B-B14F-4D97-AF65-F5344CB8AC3E}">
        <p14:creationId xmlns:p14="http://schemas.microsoft.com/office/powerpoint/2010/main" val="9492461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F98B27-8F03-4337-B051-C63088BB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PROJECT MIDTERM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DD6C1F-2680-48F4-9450-DE1C891E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현재 핵심 사용 흐름을 구현하고 알파 테스트 중이다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8F65C-9DCA-430E-BF1E-DFB210F6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A78845-E857-4803-94FF-BA246D77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AI·SW마에스트로 제17기 · 369팀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4F7C4C-0FB3-4EFC-B042-23CD6EB9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31C41D-D9B9-4F9A-B97C-76E92C64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8F7383-E5B6-4AAA-A4B2-EA33FA11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40초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E5295E-ADBA-407A-9CC6-E1CC85F9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AI 타임라인 생성 소요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A92AD9-B79F-4FC0-B526-57D27596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956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비동기 요청·FCM 완료 알림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760ADE-6112-4DA5-A4AA-52FBAE63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002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423A76-5040-40EE-9FC6-6D5A7AC9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71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5A36D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5A36D"/>
                </a:solidFill>
                <a:latin typeface="Malgun Gothic"/>
                <a:ea typeface="Malgun Gothic"/>
                <a:cs typeface="Malgun Gothic"/>
              </a:rPr>
              <a:t>5종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1166AD-0541-4C98-9123-84BC5D37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622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생활 데이터 유형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6DE211-E3D5-477A-B610-B13F7508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956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사진·위치·일정·건강·알림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A88F12-413C-4586-9527-2855DC44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002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B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CCB32B-3210-4215-AC17-245E86C4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771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E58B2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E58B2A"/>
                </a:solidFill>
                <a:latin typeface="Malgun Gothic"/>
                <a:ea typeface="Malgun Gothic"/>
                <a:cs typeface="Malgun Gothic"/>
              </a:rPr>
              <a:t>MVP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16635A-3A06-460D-BAAB-51BFAB67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622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현재 상태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767EF5-957D-44CD-809F-FFF6B253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956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핵심 기능 개발·알파 테스트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71DFA3-0DA5-43FD-9D95-BADE3722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48100"/>
            <a:ext cx="111633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7F3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A43A22-7DDB-4562-9D03-C6A8F8B4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구현된 핵심 흐름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2DBC1F-4BB4-4F04-928E-391E1E8A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76700"/>
            <a:ext cx="8096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Google·Kakao 로그인과 OAuth/JWT 인증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데이터 권한 설정·수집과 Room 저장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AI 타임라인 생성·상태 확인·완료 알림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사건 제목·시간·메모·사진 수정·삭제 후 확정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월별 기록 조회</a:t>
            </a:r>
          </a:p>
        </p:txBody>
      </p:sp>
    </p:spTree>
    <p:extLst>
      <p:ext uri="{BB962C8B-B14F-4D97-AF65-F5344CB8AC3E}">
        <p14:creationId xmlns:p14="http://schemas.microsoft.com/office/powerpoint/2010/main" val="14737304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36B14E-9BFA-4C71-B65E-DD53D28E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PROJECT MIDTERM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36AE0-F1E8-48D9-90B9-D26CA0D1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모바일은 서로 다른 권한과 데이터를 하나의 흐름으로 통합했다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BF036A-71F7-4D41-AF61-62C1B101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41122C-DFC2-48E9-BA64-45C159AD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AI·SW마에스트로 제17기 · 369팀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A9B35-DC46-4A54-9B01-712F2852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8C8D80-5AE6-4162-9C5A-C32471E8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3333750" cy="2000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7F3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511AD5-D64A-4F07-B296-CD98D731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716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F115A8-D81E-49C2-A245-3053923F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수집·통합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781294-1143-49B1-93E7-5C28D752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MediaStore·Calendar Provider·Health Connect 데이터를 공통 구조로 바꾸어 Room에 저장합니다.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1DCC83-9717-46E6-8A67-78326D47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00200"/>
            <a:ext cx="3333750" cy="2000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A368E3-4086-4D8B-82EF-D6384132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7716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399E05-6294-48EA-8982-DC8A3913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1336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백그라운드 위치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DC8141-3F77-49CF-A78E-6B3FC683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9080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Foreground Service로 상태를 알리고 체류·이동 구간을 만들며 재시작 후 기록을 복원합니다.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7049CF-B0B1-4110-B1EF-DCCB24AB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00200"/>
            <a:ext cx="3333750" cy="2000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E75C03-66F4-48F4-9D2D-E4C09615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716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0B743F-66E2-46AB-83B3-19868F88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336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비동기 상태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DC2479-2351-4625-8ABE-A70FEB0F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9080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taskId를 저장하고 앱 사용 중 폴링, 백그라운드에서는 FCM으로 완료 여부를 전달합니다.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6D2224-A4D4-41AB-893C-51FAA9F1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베타 전 집중 검증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20FB58-0A8D-4E30-A471-845FC3FE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14850"/>
            <a:ext cx="11163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권한 거부·회수  /  네트워크 단절  /  AI 생성 지연  /  알림 미수신  /  앱 재실행  /  Android 버전·제조사별 배터리 소모</a:t>
            </a:r>
          </a:p>
        </p:txBody>
      </p:sp>
    </p:spTree>
    <p:extLst>
      <p:ext uri="{BB962C8B-B14F-4D97-AF65-F5344CB8AC3E}">
        <p14:creationId xmlns:p14="http://schemas.microsoft.com/office/powerpoint/2010/main" val="3785574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663B2E-D6CD-44BE-8276-C060E853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PROJECT MIDTERM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AB0172-28EA-4D83-B824-C214B96F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시스템은 수집·가공·생성·저장의 책임을 분리했다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FD0821-8B61-41FC-86BD-F77A9EA0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43D3B1-58B1-4E52-8220-1812508B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AI·SW마에스트로 제17기 · 369팀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7303F1-959E-4024-A4CB-D17A3B43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56057-DDC6-45DF-B752-6A5AD3D1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04950"/>
            <a:ext cx="7372350" cy="44577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65a0acb37747d5"/>
          <a:srcRect xmlns:a="http://schemas.openxmlformats.org/drawingml/2006/main" l="0" t="1792" r="0" b="17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524000"/>
            <a:ext cx="7334250" cy="4419600"/>
          </a:xfrm>
          <a:prstGeom xmlns:a="http://schemas.openxmlformats.org/drawingml/2006/main" prst="roundRect">
            <a:avLst>
              <a:gd name="adj" fmla="val 215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04EF0D-FCCC-4284-B668-5C8E4116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19250"/>
            <a:ext cx="9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836BD4-C388-42F5-A5DB-8DE2028C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002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구성 원칙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202799-0FAE-4244-A8A6-C13735CF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33600"/>
            <a:ext cx="3143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• Android: 허용된 생활 데이터 수집</a:t>
            </a:r>
          </a:p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• API Server: 검증·가공·인증·저장</a:t>
            </a:r>
          </a:p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• AI Server: 분석·타임라인 생성</a:t>
            </a:r>
          </a:p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• MySQL·Redis·S3: 데이터 유형별 저장</a:t>
            </a:r>
          </a:p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• Private Subnet: DB·캐시 외부 접근 차단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60B475-BE82-4205-B452-29E83B4B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62500"/>
            <a:ext cx="314325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E7F3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5A5A19-CB80-432E-B26B-B2F336D7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953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핵심 변화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F45688-FE94-419B-9710-5DB4E765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2768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AI 서버의 DB 직접 접근을 제거</a:t>
            </a:r>
          </a:p>
        </p:txBody>
      </p:sp>
    </p:spTree>
    <p:extLst>
      <p:ext uri="{BB962C8B-B14F-4D97-AF65-F5344CB8AC3E}">
        <p14:creationId xmlns:p14="http://schemas.microsoft.com/office/powerpoint/2010/main" val="350237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F72442-D039-46EA-8468-C780F49B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PROJECT MIDTERM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AD7D7B-3541-447F-9A5B-6C3C78B8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서버는 위치 데이터를 보강하고 AI 작업을 독립적으로 연결한다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774586-D9BE-4EF6-8132-07F6C9D2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5074D3-4B13-4A3D-8A92-185501D8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AI·SW마에스트로 제17기 · 369팀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FAC6B5-2F9F-46E7-9A84-32978AC4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A7086B-E5B5-428B-A1BC-2F7DCD0F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514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66D224-CBBE-4F20-843D-6720E5EB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Geocoding 병렬 처리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504E69-E4C9-476B-A18D-035688D2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47900"/>
            <a:ext cx="5143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• 중복 좌표 제거·최대 50개 처리</a:t>
            </a:r>
          </a:p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• 한 번에 4개씩 병렬 조회</a:t>
            </a:r>
          </a:p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• 실패율 20% 이하는 부분 성공 허용</a:t>
            </a:r>
          </a:p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• 20% 초과 또는 연속 3개 실패 시 중단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6CEFDE-AE33-4109-A748-65FC6D67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00200"/>
            <a:ext cx="514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189AFC-670B-4298-807F-CD0EB72D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7165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서버 간 API 기반 AI 연동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A502F8-6E34-4EC3-AD12-D9A2B0F9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47900"/>
            <a:ext cx="5143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• API Server가 source Item과 저장 책임 소유</a:t>
            </a:r>
          </a:p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• AI Server에는 taskId와 작업 토큰 전달</a:t>
            </a:r>
          </a:p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• 결과는 API를 통해 검증 후 저장</a:t>
            </a:r>
          </a:p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• 조회·저장·Callback마다 토큰 교체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BBEEAA-6D66-4C2B-9261-BB775F75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1116330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E7F3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A73D37-C72F-48A5-BBDF-4A7D870C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설계 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30A170-6821-446A-8DCF-D8BAD415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14900"/>
            <a:ext cx="8839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DB 스키마가 바뀌어도 AI 서버는 영향받지 않고, 검증·소유권·트랜잭션 책임은 API Server로 모인다.</a:t>
            </a:r>
          </a:p>
        </p:txBody>
      </p:sp>
    </p:spTree>
    <p:extLst>
      <p:ext uri="{BB962C8B-B14F-4D97-AF65-F5344CB8AC3E}">
        <p14:creationId xmlns:p14="http://schemas.microsoft.com/office/powerpoint/2010/main" val="14563713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235ED3-10B0-4305-B08E-04742DC0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PROJECT MIDTERM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049D6C-5905-4B14-B955-5AE55ABF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생활 데이터는 사용자 ID와 분리해 저장한다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F3909F-9DCD-4D09-BF47-D99C2857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A42BCC-31E0-4715-93C8-BD7DDC96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AI·SW마에스트로 제17기 · 369팀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8A6292-71D0-4C7C-8685-52F6FFAB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3AAFFC-516A-4775-BBB8-7EDD0205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71800"/>
            <a:ext cx="923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ADF9DD-A4C3-4838-9D28-6B91C403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752600" cy="12954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617219-287D-451D-8F4A-C1010F61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userId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FFBE63-74F8-45E3-B74D-98B4AF57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인증 영역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697A15-C51D-45C3-8629-5AF71EEC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90750"/>
            <a:ext cx="1752600" cy="12954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0ED57D-A614-4188-A40F-4674062E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0030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HMAC-SHA-256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78F2A0-B3B7-408C-950A-EAE80C3B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93370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조회 키 생성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31C727-4E83-4533-A7BC-3AF96155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190750"/>
            <a:ext cx="1752600" cy="12954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187BFD-859E-4B16-AA79-DB18D9F5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40030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매핑 테이블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900885-CAEA-4324-9F2F-9E5B4287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3370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원본 ID 미저장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A0E6FA-0B48-4E69-8528-AC2FF045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90750"/>
            <a:ext cx="1752600" cy="12954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E7F3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EA4BCC-E512-4DEC-AFB0-175D00FC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0030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Subject 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9A2A70-5F39-47FE-B5D9-6408BCD0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3370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UUIDv4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A29F5B-AF0B-4B0C-B5C7-8119625B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90750"/>
            <a:ext cx="1752600" cy="12954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F625A3-F167-4757-BFE1-9B64DD2D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0030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콘텐츠 접근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65491F-001B-4BE9-A4CE-B7E365B0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3370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타임라인·사진·Memory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7DCA54-B50C-4C3C-8022-C8554598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38600"/>
            <a:ext cx="9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20552D-F007-42E3-BECD-6DA12041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비밀키와 매핑의 분리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633C4C-20C6-4DE4-BE79-7866621B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14850"/>
            <a:ext cx="11163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HMAC 비밀키는 AWS Secrets Manager에서 관리하고, 매핑 테이블에는 HMAC 조회 키·Subject ID·키 버전만 저장합니다. 어느 한쪽의 정보만으로 userId와 라이프로그를 직접 연결하기 어렵게 구성했습니다.</a:t>
            </a:r>
          </a:p>
        </p:txBody>
      </p:sp>
    </p:spTree>
    <p:extLst>
      <p:ext uri="{BB962C8B-B14F-4D97-AF65-F5344CB8AC3E}">
        <p14:creationId xmlns:p14="http://schemas.microsoft.com/office/powerpoint/2010/main" val="2829221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1B388F-7EC8-4877-B264-45428660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PROJECT MIDTERM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0017D1-F904-4EAB-8A57-83592B87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63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AI는 데이터별 분석 뒤 타임라인을 생성·검증·질문한다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9C98D2-17F5-4EBC-BE37-ACFE56C3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026D66-4528-4D94-AE3C-FCF50162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AI·SW마에스트로 제17기 · 369팀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23FFBC-04D7-4A1F-974F-CA469943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B9038B-C25E-45AF-AA67-5BE21741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04950"/>
            <a:ext cx="112014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78f853aa5c43dc"/>
          <a:stretch xmlns:a="http://schemas.openxmlformats.org/drawingml/2006/main"/>
        </p:blipFill>
        <p:spPr>
          <a:xfrm xmlns:a="http://schemas.openxmlformats.org/drawingml/2006/main">
            <a:off x="2664056" y="1524000"/>
            <a:ext cx="6863888" cy="2533650"/>
          </a:xfrm>
          <a:prstGeom xmlns:a="http://schemas.openxmlformats.org/drawingml/2006/main" prst="roundRect">
            <a:avLst>
              <a:gd name="adj" fmla="val 375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E4CB2B-3B42-4C1B-9817-79BF34D8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624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Event Agents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D7407C-7C6B-49F0-A8B8-A664E127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위치·일정·사진·건강·알림을 전용 프롬프트로 병렬 분석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0910AA-B3FE-4869-B964-C608EE1B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3624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Timeline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167256-49C8-48D2-BDA1-3405C827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6250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같은 사건을 병합하고 시간·장소·근거를 포함한 초안 생성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6B4972-0E03-431A-8A28-BB4728E9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624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Repair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EC3792-2CEE-4A40-AE90-5958BF5B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6250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누락·범위·중복·원본 연결을 결정론적 코드로 보정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4B5195-022C-4F2D-AB1B-F32505EA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3624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Question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FB0ABA-564A-4CB2-8A69-0A2DC3C9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76250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사실 확인이 아닌 감정·생각·의미를 기록하도록 질문 생성</a:t>
            </a:r>
          </a:p>
        </p:txBody>
      </p:sp>
    </p:spTree>
    <p:extLst>
      <p:ext uri="{BB962C8B-B14F-4D97-AF65-F5344CB8AC3E}">
        <p14:creationId xmlns:p14="http://schemas.microsoft.com/office/powerpoint/2010/main" val="2511850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3BE281-7BCA-45C0-9943-5D47B8CF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PROJECT MIDTERM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F21C44-D2DC-4461-A02E-C9A55127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품질 보장은 LLM 판단과 결정론적 검증의 역할 분리에서 시작한다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576339-7D0D-4D6D-8F58-F3CC73D0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8902D4-0A9E-475C-914C-BC152BCC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AI·SW마에스트로 제17기 · 369팀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655C47-E892-4D5F-83D7-36FDB716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5F6A96-22B1-4D46-B5E6-8C0E9505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3333750" cy="2000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7F3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78666C-ADA7-4BCA-A52F-657D8F94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335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C24764-0979-4FAD-B00E-BD9A0C78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정량 프롬프트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831C49-A530-492B-A7E1-C1A0AE8A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캘린더 100% 보존, 사진 단일 반영, 제목 30자, 설명 1~2문장, 기본 사건 3시간 이내.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D3D5A7-A493-44A0-A126-9656FC49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62100"/>
            <a:ext cx="3333750" cy="2000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AB0D2E-5D99-4C98-9F35-AD0AA2A2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7335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190821-A90D-40F5-B02D-EBF87111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955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결정론적 도구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7A4E8C-BE3C-426F-91F3-8B6217EF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5270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rawId·시간 범위·누락·중복·수면 경계·장소 근거를 코드로 검증하고 저장 위반을 차단.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E6E56F-1DE1-4538-8CC4-F3096921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62100"/>
            <a:ext cx="3333750" cy="2000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BAE724-C6DC-4B9F-8BE8-07BE6151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335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A89B5E-594F-4BF9-B675-7A666748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955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User Memory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24F106-65E7-4557-A2D8-F73165DE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5270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반복 활동·관계·습관·선호를 제한된 JSON 프로필로 유지하되 사건 근거보다 우선하지 않음.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75B251-992C-4923-9E08-F361C112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11163300" cy="1466850"/>
          </a:xfrm>
          <a:prstGeom xmlns:a="http://schemas.openxmlformats.org/drawingml/2006/main" prst="roundRect">
            <a:avLst>
              <a:gd name="adj" fmla="val 6494"/>
            </a:avLst>
          </a:prstGeom>
          <a:solidFill xmlns:a="http://schemas.openxmlformats.org/drawingml/2006/main">
            <a:srgbClr val="E7F3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03A43A-B990-4CE7-8986-41ACE926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원칙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CFFC2B-71F5-4731-8502-A6B48D65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1719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사건의 의미와 구성은 LLM이 판단하고, 셀 수 있고 검증 가능한 조건은 코드가 확정한다.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B0A3BD-CBB7-4EBA-B632-92E5C773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8577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같은 입력에 대해 필수 조건을 일관되게 보장하고, 경량 모델에서도 안정적인 결과를 목표로 합니다.</a:t>
            </a:r>
          </a:p>
        </p:txBody>
      </p:sp>
    </p:spTree>
    <p:extLst>
      <p:ext uri="{BB962C8B-B14F-4D97-AF65-F5344CB8AC3E}">
        <p14:creationId xmlns:p14="http://schemas.microsoft.com/office/powerpoint/2010/main" val="11233432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F585F1-C5C9-40BE-B591-C574A456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PROJECT MIDTERM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BC970E-AA5B-49D9-BA73-4E74074C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Evaluation System은 평가→개선→재검증을 반복한다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F5230-59ED-4D55-A294-9B2C7E07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04223A-2C5C-4E5A-BCF7-E0572A02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AI·SW마에스트로 제17기 · 369팀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A3D49-0AC8-4F0F-B8EE-F62BE4D4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243FC1-971F-4FC9-A10A-A2AD81CF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6419850" cy="3752850"/>
          </a:xfrm>
          <a:prstGeom xmlns:a="http://schemas.openxmlformats.org/drawingml/2006/main" prst="roundRect">
            <a:avLst>
              <a:gd name="adj" fmla="val 30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4b488a0e3c442a"/>
          <a:stretch xmlns:a="http://schemas.openxmlformats.org/drawingml/2006/main"/>
        </p:blipFill>
        <p:spPr>
          <a:xfrm xmlns:a="http://schemas.openxmlformats.org/drawingml/2006/main">
            <a:off x="514350" y="1795462"/>
            <a:ext cx="6381750" cy="3095625"/>
          </a:xfrm>
          <a:prstGeom xmlns:a="http://schemas.openxmlformats.org/drawingml/2006/main" prst="roundRect">
            <a:avLst>
              <a:gd name="adj" fmla="val 256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0D4B4A-18D9-4AFD-86AC-69F8EF70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19250"/>
            <a:ext cx="9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55C841-AB46-4F1E-BB6D-E66BB5E7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002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자동 품질 개선 루프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9CAC9E-D555-4BE7-9C07-E6742C05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52650"/>
            <a:ext cx="3905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1. Langfuse 입력·출력 수집</a:t>
            </a:r>
          </a:p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2. LLM-as-a-Judge 평가</a:t>
            </a:r>
          </a:p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3. 문제와 판단 근거 구조화</a:t>
            </a:r>
          </a:p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4. 프롬프트·후처리 개선안 생성</a:t>
            </a:r>
          </a:p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5. 테스트 데이터 기반 재검증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402BF4-1E54-4644-BB8F-22229961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514850"/>
            <a:ext cx="3905250" cy="1162050"/>
          </a:xfrm>
          <a:prstGeom xmlns:a="http://schemas.openxmlformats.org/drawingml/2006/main" prst="roundRect">
            <a:avLst>
              <a:gd name="adj" fmla="val 8197"/>
            </a:avLst>
          </a:prstGeom>
          <a:solidFill xmlns:a="http://schemas.openxmlformats.org/drawingml/2006/main">
            <a:srgbClr val="E7F3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B2CB46-B6E9-4E8C-ADD9-331E989D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7053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평가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1F5687-78C1-4DA1-A76B-EC49CFAA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29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근거 충실성 · 시간·장소 정합성 · 완결성 · 문장 품질 · 누락·중복 · 길이 · rawId 연결</a:t>
            </a:r>
          </a:p>
        </p:txBody>
      </p:sp>
    </p:spTree>
    <p:extLst>
      <p:ext uri="{BB962C8B-B14F-4D97-AF65-F5344CB8AC3E}">
        <p14:creationId xmlns:p14="http://schemas.microsoft.com/office/powerpoint/2010/main" val="58112815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A1F128-1659-41A3-B5D7-54920AE5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PROJECT MIDTERM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FB10DF-F7B5-4AA6-86F6-A81437F9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운영 관측은 앱·서버·AI 품질을 목적별로 분리한다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5BB3DD-FB51-443E-8ACF-DF4BF587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B96716-B159-4130-8A94-F552DEE1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AI·SW마에스트로 제17기 · 369팀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67E748-7CEA-4E6E-B298-567E65E6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868022-7951-4B1D-A2E5-599C5F6C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43050"/>
            <a:ext cx="3333750" cy="2000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7F3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BD3138-86E4-4022-8FDF-83BE2C26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F1ED69-8A0B-426C-BD1D-82501B10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앱 경험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7887F2-F440-4819-9291-65362CC4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Firebase Analytics로 온보딩·타임라인·편집 전환을 보고 Crashlytics·Performance로 안정성과 체감 성능을 확인.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724905-FB36-4165-A2E1-1D763402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43050"/>
            <a:ext cx="3333750" cy="2000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4DAB6B-2FFB-41E6-925D-2A896FE2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7145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9146DF-1B06-4154-83DD-6F1753E7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764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서버 운영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18F409-15DC-4C7D-98FA-C39C6BE0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3365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Elasticsearch로 구조화 운영 이벤트를 검색하고 Prometheus·Grafana·Tempo로 자원·응답·분산 추적을 관측.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3714E8-541A-4E27-8447-E0742FCF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43050"/>
            <a:ext cx="3333750" cy="2000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3E7761-11A9-42DB-B7A5-68A81B08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145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7F1364-2DBC-40BE-B687-82F2D639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764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AI 실행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8CF68F-1904-4271-B07A-3C9084A8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3365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Langfuse로 Agent 단계, LLM 입출력, 모델·토큰·지연시간과 결과 품질을 계층형 Trace로 분석.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E8EDA-21EC-4D5F-845B-0BA31CE4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862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E4DFE8-F861-457C-8B97-FC5829AD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10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연결 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02B4EE-65BF-45B3-9C47-8E4D4634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7195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서버 운영 이벤트와 AI Trace는 taskId로 연결합니다.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789BE8-BA1B-4681-B35E-833F2031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625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민감한 AI 처리 본문이 Elasticsearch에 과도하게 축적되지 않도록 관측 목적을 분리했습니다.</a:t>
            </a:r>
          </a:p>
        </p:txBody>
      </p:sp>
    </p:spTree>
    <p:extLst>
      <p:ext uri="{BB962C8B-B14F-4D97-AF65-F5344CB8AC3E}">
        <p14:creationId xmlns:p14="http://schemas.microsoft.com/office/powerpoint/2010/main" val="85469580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A516FD-76E9-4AC0-8595-0659288A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PROJECT MIDTERM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513C6B-0F6B-4A1E-A396-430CA8FF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팀은 역할 분담과 1주 스프린트로 실행한다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CD5FAA-A163-4A28-A1D7-17E19D59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4DB2A1-2727-4CAB-BDD7-70B2F791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AI·SW마에스트로 제17기 · 369팀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A58767-48C7-4A2B-8AA4-D4DF6A3F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C96BB5-E66D-46A0-AC1A-98982C99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1D14D3-78B1-4154-9E60-CFE1C853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이동건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1E4B7B-2680-4D34-A7B9-90592543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팀장 · AI · Backend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0282DB-726B-4144-9A9C-28BCD725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956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AI 파이프라인과 서버 개발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A9E648-C42C-412A-94A9-E1B4BCDA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002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E3CD7D-1F30-4F91-B50C-BFB360A5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71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5A36D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5A36D"/>
                </a:solidFill>
                <a:latin typeface="Malgun Gothic"/>
                <a:ea typeface="Malgun Gothic"/>
                <a:cs typeface="Malgun Gothic"/>
              </a:rPr>
              <a:t>정수현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ADC30B-08E3-4E93-A17F-B9BB1329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622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Infra · Backend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57BA2B-502D-451B-ABAD-799B4D52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956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AWS·배포·서버 개발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B5AADB-9D47-42D9-8E42-069B0FAF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002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B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5F1E49-1711-4D94-84FC-1CE62D4A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771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E58B2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E58B2A"/>
                </a:solidFill>
                <a:latin typeface="Malgun Gothic"/>
                <a:ea typeface="Malgun Gothic"/>
                <a:cs typeface="Malgun Gothic"/>
              </a:rPr>
              <a:t>전형선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FEB7FA-8EA3-441E-9FFD-4F1C4E49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622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Android · 배포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8873BE-4F11-47F9-93A6-56A455B8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956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모바일 기능·Play Store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95B2C8-5493-4CC8-80A3-0C54EEF4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24300"/>
            <a:ext cx="11163300" cy="1485900"/>
          </a:xfrm>
          <a:prstGeom xmlns:a="http://schemas.openxmlformats.org/drawingml/2006/main" prst="roundRect">
            <a:avLst>
              <a:gd name="adj" fmla="val 641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F0CF4F-4E57-497E-BF04-6133E4D1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개발 프로세스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13920E-6754-4356-951E-B80A4961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33850"/>
            <a:ext cx="847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Git Flow · GitHub Issue/PR · 자동 테스트와 코드 리뷰 · GitHub Actions CI/CD · AI Coding Agent와 재사용 가능한 Agent Skill · 프로젝트 전용 LLM Wiki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E97A52-6C2B-4482-9DDD-1C8586BB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53000"/>
            <a:ext cx="847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기획과 개발은 멘토 의견·알파 테스트·운영 지표를 1주 단위 스프린트에 반영합니다.</a:t>
            </a:r>
          </a:p>
        </p:txBody>
      </p:sp>
    </p:spTree>
    <p:extLst>
      <p:ext uri="{BB962C8B-B14F-4D97-AF65-F5344CB8AC3E}">
        <p14:creationId xmlns:p14="http://schemas.microsoft.com/office/powerpoint/2010/main" val="208706255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064F31-B331-4BE2-8620-4247ACFE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PROJECT MIDTERM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0264F7-9E54-4F43-B0DC-39CA5631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베타 테스트는 첫 가치 행동과 행동 지표를 검증한다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718C9C-1754-41EE-AC9E-F68EA2CE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EE9C20-8E8B-4998-8F5F-5CFC211D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AI·SW마에스트로 제17기 · 369팀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CF7506-92B4-44B7-8985-4F464A53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517421-7BD3-43B2-B682-D21CE614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50697C-3071-4143-A541-52EC7E68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20명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61A45C-9126-4DA7-97C2-6814EEBB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241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베타테스터 목표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EE385D-B626-4843-BBB4-B2B8033F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지인·17기·개발자 커뮤니티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CAA317-57E0-4AF8-BBBA-CCCD4FB3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6210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580460-1293-4FD3-BCA5-A7A25A75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335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A36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5A36D"/>
                </a:solidFill>
                <a:latin typeface="Malgun Gothic"/>
                <a:ea typeface="Malgun Gothic"/>
                <a:cs typeface="Malgun Gothic"/>
              </a:rPr>
              <a:t>8.24–8.30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C495B2-505A-488C-9E71-1D6C7AE2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241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테스트 기간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D54027-2511-4020-A6BD-F843952F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575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1주일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C673C2-256B-4EF0-BE2E-0E0637E6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56210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B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C6625D-90CE-4784-A98D-B4D5F01B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7335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E58B2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E58B2A"/>
                </a:solidFill>
                <a:latin typeface="Malgun Gothic"/>
                <a:ea typeface="Malgun Gothic"/>
                <a:cs typeface="Malgun Gothic"/>
              </a:rPr>
              <a:t>5개+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5F65AC-AF62-4852-B4B2-91C826F5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3241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일기 작성 인센티브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1DF3F7-F731-4E3C-B675-45FD92F3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8575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소정의 보상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83B7F8-4AB1-408D-B642-BA57F0ED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581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검증 소구점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FA8859-C721-4E72-B213-74D31F89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383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A. 오늘 하루, 얼마나 기억하고 있나요?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B. 일기를 쓰고 싶지만 매일 기록하기 힘들지 않나요?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A1DAB0-3010-41B1-9921-E7310567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71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C4027E-F9FF-42C3-BD6D-D677AE8F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576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핵심 측정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E21F4C-6C58-4588-BBAC-EF6509B5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576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권한 동의율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D1C2AC-E0C5-4E37-A6E6-EF8CD370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576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타임라인 완료율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F3D334-4A60-4BC9-8049-3F5CBA57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576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이벤트 수정·삭제율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B20A4C-88CC-4296-B3DD-C6CC748D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메모 추가율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61289F-EA13-44E0-85F3-ECECD581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576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D1·D7·D30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1224AA-0CAA-4A1B-96A6-4690E3FE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43450"/>
            <a:ext cx="111633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E7F3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11F058-420D-4B03-AAB2-7A23D795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339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메모·사진·위치·타임라인 원문은 분석 이벤트에 포함하지 않고, 횟수와 완료 여부 같은 행동 정보만 수집합니다.</a:t>
            </a:r>
          </a:p>
        </p:txBody>
      </p:sp>
    </p:spTree>
    <p:extLst>
      <p:ext uri="{BB962C8B-B14F-4D97-AF65-F5344CB8AC3E}">
        <p14:creationId xmlns:p14="http://schemas.microsoft.com/office/powerpoint/2010/main" val="82103986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C6D37B-C2AB-4D44-ABA6-AD8B23DD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PROJECT MIDTERM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489F2E-F56C-40CB-B1B7-4A93C8B7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9월 출시 후 구독 모델과 주기적 배포를 검증한다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356A67-3F29-477E-9705-C938F429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BBBEBF-CBEB-4CF9-84AE-5C131DCB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AI·SW마에스트로 제17기 · 369팀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B22409-5048-4512-904B-6C697E44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C3AE3C-A118-429D-8195-EC60037F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25891-A725-446A-B3DE-6AAB387D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Free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C4A627-A27D-4DA1-AC78-2B56CECC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241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AI Timeline 월 10회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CA7256-4551-404C-BF58-F48461EF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목표 1개 · 핵심 기록 기능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5508B9-A92D-42E8-ABAD-3E8DB36C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62100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CD61C7-B944-4BEF-B947-D7B1EDC7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335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₩2,300/월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182290-F48B-4601-8192-E9A7EB2A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241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Premium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A88425-2886-4567-90A6-FAF5B1C3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575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Timeline 월 20회 · 목표 5개 · 제한 AI 대화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AAE674-FE75-42BD-AA0D-A764B4D3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62100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B48136-7A93-48F3-A003-8BB5C225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335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A36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5A36D"/>
                </a:solidFill>
                <a:latin typeface="Malgun Gothic"/>
                <a:ea typeface="Malgun Gothic"/>
                <a:cs typeface="Malgun Gothic"/>
              </a:rPr>
              <a:t>₩7,800/월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106CBE-A77C-4320-AC47-A4F56697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241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Max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5F5DDE-7759-46FA-B5C7-459486F7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575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Timeline 하루 2회 · 목표 무제한 · AI 대화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829176-5FD8-45D7-8D8E-BA057EE0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48100"/>
            <a:ext cx="5524500" cy="16573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E7F3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61D13C-B50D-43F6-B087-B577F3C4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운영 가정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78B92C-468F-472C-9FF0-55A9B73E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월 평균 운영비 약 90만 원</a:t>
            </a:r>
          </a:p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마케팅 제외 3개월 총 270만 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76A4C2-2591-4802-B17D-19D93A7F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48100"/>
            <a:ext cx="5372100" cy="16573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844018-72BB-4C81-810C-B355C3E7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손익분기 사용자 가정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22D561-5A0E-4A11-B6B1-939A38F5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52950"/>
            <a:ext cx="428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Premium 약 390명</a:t>
            </a:r>
          </a:p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Max 약 115명</a:t>
            </a:r>
          </a:p>
        </p:txBody>
      </p:sp>
    </p:spTree>
    <p:extLst>
      <p:ext uri="{BB962C8B-B14F-4D97-AF65-F5344CB8AC3E}">
        <p14:creationId xmlns:p14="http://schemas.microsoft.com/office/powerpoint/2010/main" val="27371743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0A71AE-6F76-4387-8B4A-0B5C2AF2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PROJECT MIDTERM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0FD52B-6469-43A9-97FC-56528959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남은 기간에는 핵심 기능 완성도와 실제 사용자 검증에 집중한다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9F819-80F5-400C-8150-1C924AAF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17C270-999C-4DFB-898B-7DD6CA2B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AI·SW마에스트로 제17기 · 369팀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5A27DA-599B-4FA7-9211-FBB072E4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1381D1-5AAE-4981-A13D-E1D9D4CB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971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B8EA2E-40C8-4CC1-9BE0-26281C9F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86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5809ED-F4DA-46BF-ABC0-3958BCE1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현재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2FC57F-A1A5-4C25-82A6-0A027126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알파 테스트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D6DBCB-7877-4EFA-A08B-F9D84DCA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814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핵심 흐름 안정화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1EA6EB-D1FA-45EA-A6D4-281F9858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86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49C731-F2A7-43E5-A6DB-EE2A1511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57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8/24–8/30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238D98-A312-4E9F-8151-241F144B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베타 테스트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A16936-EE7F-4D2C-A2EA-02420A79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814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첫 가치 행동·품질 검증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D2AB3F-B32F-4D70-AA45-923DD2C5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86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A191FC-FDA0-493E-975F-7F24FB87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57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9월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B56D8E-AEC9-44DF-9B06-58A7DF7B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336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최초 배포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707DFC-9EC0-4054-A597-A860F8CF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814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Play Store 테스트·정식 출시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B5885D-D463-407D-A97D-036C0BD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486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2E9191-22AF-48B4-BEC9-ACEA20AB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657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9–11월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E88B49-F569-41E0-A160-465F5A66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336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주기적 개선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F31A4C-EBEB-49CD-95F9-79E88F38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9814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1주 배포·지표 기반 개선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592FA0-4AF5-43C3-98E5-1A59A470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111633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7F3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6B23BE-A708-491C-979A-4A35E47A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집중 과제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7A9ECA-7CAE-4714-8114-4F61581E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1625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MVP 범위 명확화 · AI 실패·중복·재시작 정합성 검증 · 정량 목표 설정 · 실제 사용자의 기록 부담 감소 확인</a:t>
            </a:r>
          </a:p>
        </p:txBody>
      </p:sp>
    </p:spTree>
    <p:extLst>
      <p:ext uri="{BB962C8B-B14F-4D97-AF65-F5344CB8AC3E}">
        <p14:creationId xmlns:p14="http://schemas.microsoft.com/office/powerpoint/2010/main" val="176566568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2D1D886-970C-420B-80CD-3B6F0EC5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3AA09A-5575-4F90-8B28-F481C168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부록 | AI가 활용하는 생활 데이터와 역할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B23621-A1D1-433A-8F04-1211FB6C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F438BF-3B5A-472D-8280-593BA1EC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AI·SW마에스트로 제17기 · 369팀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6ED2C7-1586-4488-AC8F-95268B47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55919A-E219-4E59-B9A6-72BF7466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11163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349C4-3D8E-4619-8FE1-EA226CDD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데이터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899517-DA3F-4391-A6E1-8C1D9EA9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56210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주요 데이터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6DEC24-6E9A-4E00-ADA0-CC81887C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5621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 활용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19E980-0B82-456C-AEE8-A7EBED2D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11163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C0FD25-CD15-4980-90F5-7F687E6B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STAY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280965-52AD-4EA6-ABEE-1EF67459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574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체류 시간·좌표·장소·주소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C68C14-6237-4B5A-AE91-914AE77D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특정 장소에서의 활동 추론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C38F05-86F8-4325-9735-C3564B81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669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87322D-08BD-4182-905C-B66D8791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86025"/>
            <a:ext cx="11163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23901B-1F3C-409F-8A9A-C1BF5361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384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MOVEMENT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398269-C905-4F35-9736-68003ADB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3842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출발·도착·거리·이동 수단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8A3A73-8611-4CD9-8AA4-F7893BA4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3842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출근·귀가·이동 구간 파악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30194A-F161-4F9A-B9D2-FE5A53F7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A1162A-3445-451A-B401-8A4950D2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67050"/>
            <a:ext cx="11163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A28421-3A06-4254-AB54-82E8B6A8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CALENDAR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73FCDA-EF06-4801-AF33-0F6C82DB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2194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일정 제목·설명·시간·장소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97B375-CF4D-476F-9B61-09FE197B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194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회의·수업·약속 확인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EDC373-1F93-444F-9411-24CFBF76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290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F71D97-B91E-46FE-BCF1-D1987A37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48075"/>
            <a:ext cx="11163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98F5AC-B4B4-42A1-A3AD-A080A560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04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HEALTH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DCF97E-9956-4B11-9292-76129663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80047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걸음 수·수면 시간과 구간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73D6C8-273B-4A95-AE56-8E08E442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80047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활동량·취침·기상 파악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E4E8CF-7E41-4145-A09B-DD569CEB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100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414971-7412-4624-AFDD-21247F6F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29100"/>
            <a:ext cx="11163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E15ABF-22A8-4D80-B245-7A39DB3D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NOTIFICATION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942A0E-AD0B-4A43-9BB9-18D30B0D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3815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모바일 알림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AD02EF-BB92-4E3D-ACD6-29AFE4F7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815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활동 목적을 보강하는 단서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D36668-0761-46B3-8AC4-C7C94370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910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D5B01D-3D21-477C-AAFB-7E364B38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0125"/>
            <a:ext cx="11163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E321C3-ABFA-4C8F-A2C8-3FD74F20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625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PHOTO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D70C1C-E8C0-4213-8244-6155714C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96252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촬영 사진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E580E3-93CE-4570-B512-092E06BF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96252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멀티모달 상황 분석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830158D-359C-4328-9A45-A224B30D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72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67AEB5-DC6C-458B-89F9-1D0E2E54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91150"/>
            <a:ext cx="11163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40E261-384A-48D0-B4DF-D4322A34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User Memory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95A9AF-8020-4616-8E7C-3D06E421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5435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관계·습관·선호·관심사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47A52F0-09A0-485E-8EC4-79354B17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5435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표현과 회고 질문 개인화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7CCA95A-D9BE-410F-BC91-0BC8148C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531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386380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C3EBD1-92CC-4E47-A052-7B0B678C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47CEF4-0C5A-46C6-BE87-941F378E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부록 | 베타 전 검증할 장애·복구 시나리오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E29FC7-DD00-4AC5-B6F2-DBFC4C0A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09BD56-5443-4389-983D-7E854465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AI·SW마에스트로 제17기 · 369팀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C7CA3-6D2A-481E-9979-C7DC6F9B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8B3F1A-1DB5-4CAE-BD24-CE926724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514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64CFE-8EC4-4B51-A8C6-9322B3CB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모바일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3AB818-2346-49B5-B0F7-2BD8CD36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28850"/>
            <a:ext cx="5143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• 권한 거부·회수 후 부분 기능 유지</a:t>
            </a:r>
          </a:p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• 네트워크 단절 중 작업 복원</a:t>
            </a:r>
          </a:p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• FCM 미수신 시 폴링으로 상태 확인</a:t>
            </a:r>
          </a:p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• 앱·기기 재시작 후 위치 기록 복원</a:t>
            </a:r>
          </a:p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• 버전·제조사별 배터리 사용량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C884C2-ADDE-4FEC-ACA7-2DECF915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581150"/>
            <a:ext cx="514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EC1DDB-C6C6-4902-BB27-37AFC3AC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526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서버·AI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55E861-B239-4125-9C86-07D1949D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28850"/>
            <a:ext cx="5143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• AI 처리 실패와 Callback 유실</a:t>
            </a:r>
          </a:p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• 중복 요청·중복 저장 방지</a:t>
            </a:r>
          </a:p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• 서버 재시작 후 작업 상태 정합성</a:t>
            </a:r>
          </a:p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• Geocoding 부분 실패 임계치</a:t>
            </a:r>
          </a:p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• health check 실패 시 직전 이미지 롤백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D605F8-CFDE-4A3D-8995-835BD252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95850"/>
            <a:ext cx="111633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7F3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1E8617-1C16-4EC0-9466-DCC86747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보고서와 멘토 의견 모두 새로운 기능 확대보다 핵심 흐름의 실패·복구 검증을 우선 과제로 제시합니다.</a:t>
            </a:r>
          </a:p>
        </p:txBody>
      </p:sp>
    </p:spTree>
    <p:extLst>
      <p:ext uri="{BB962C8B-B14F-4D97-AF65-F5344CB8AC3E}">
        <p14:creationId xmlns:p14="http://schemas.microsoft.com/office/powerpoint/2010/main" val="106304784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4A5924-EE96-430B-9F72-D48AD7CF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F45834-DD14-4417-B5E0-7AC35A23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부록 | 제품 사용을 판단할 핵심 KPI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D39A6C-44AF-4732-89B0-85E248B9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95AB43-0BBF-4C74-AEA4-692EF620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AI·SW마에스트로 제17기 · 369팀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81D424-B3A5-4952-B5DB-A42AF30C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B19829-A17E-42BB-A6D2-1D551418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0506B2-3642-4FA9-861A-E99DC3C5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권한 동의율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55E1CC-050F-4F3B-8A5F-267D652C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573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권한 요청 단계 이탈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3B8E64-63C2-4C96-9A16-98F0CAAB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927D67-8425-4BA5-92C2-8BADB765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타임라인 완료율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B42686-2C09-4D32-920F-01E7DA76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7241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AI 결과가 실제 기록으로 수용됐는지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AD0A70-0035-4253-9217-F11BBFF2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F67362-C1C4-4E43-B038-6082962B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909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이벤트 수정률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3736B6-3415-4476-AE80-DA30B094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909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생성 정확도와 수정 부담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A66C95-7F7C-40CE-BCC2-B4797EA2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0535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CE57EA-E0C4-400E-A30A-B18CAA45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이벤트 삭제율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172CB1-02A7-40AD-9D84-9E916E18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8577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불필요·오생성 사건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0E676D-BE57-45E5-995C-FADFEE40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0495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EDD2F3-866B-4966-ADC7-794A1C2D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573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메모 추가율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FB0015-3CB1-4F55-AC47-A527512A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573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자신의 기록으로 확장한 참여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0DA3ED-1F0D-4897-9AB7-0C0C3BFA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C7D0E7-90E1-4100-A3A1-AC30F874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241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평균 메모 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03336E-2905-4394-969C-E2CF2A47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타임라인 참여 정도 확인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201AC8-3E5D-4AE0-8DF5-7C2A003F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3855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66F117-BEA1-4EE2-9550-45801C55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909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D1·D7·D30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C16BF6-D3FB-4B80-BA55-9E522CE4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909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반복 생성·회고로 이어지는지 확인</a:t>
            </a:r>
          </a:p>
        </p:txBody>
      </p:sp>
    </p:spTree>
    <p:extLst>
      <p:ext uri="{BB962C8B-B14F-4D97-AF65-F5344CB8AC3E}">
        <p14:creationId xmlns:p14="http://schemas.microsoft.com/office/powerpoint/2010/main" val="75197751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BD8A38-90DB-412B-BABB-768A74B9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A223B1-36CA-42C1-8C92-1560F6F4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부록 | 3개월 운영비와 손익분기 가정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D63039-196D-4BF5-9FDB-83D97EDC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1CE754-7F79-42F6-AE54-133A03EC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AI·SW마에스트로 제17기 · 369팀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3C6519-9A77-47FD-BE3F-CAA337BE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FCD279-2014-40D2-97EE-33052F0E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API 서버·인프라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06906B-05C9-4052-B51E-80480EBF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573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86.2만 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9CEEDD-6FCB-4519-A838-6002A679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050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578ECB-9A10-4717-8FBE-A4DA70AD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DB·Storage·Redis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E20968-8BE0-4F41-AEBC-B3E2F958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68.1만 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4D5121-BCBB-493B-AAD0-B0F8351B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289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D76252-057C-47BD-9237-D2D1E2DB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051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상용 LLM API·AI 서버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807F73-1A36-49E5-B048-777E2380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051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75.7만 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71C470-203C-4CFE-8C90-39E34A03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28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3F13F3-C222-4665-9FAB-CEAC8BBF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모니터링·기타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0B84D1-E0E4-4C53-95B9-A282E03F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29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41.6만 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A7190F-6AE5-4097-A462-CF1EB018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767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153856-5B5E-4276-A864-E6471B44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529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초기 마케팅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E3B49D-9B4E-402B-9D6C-19161290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529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150만 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B8F62B-1588-4FFB-B165-2037E65A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00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FF2E9B-8EFF-402C-85D7-AF4E7C2F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524000"/>
            <a:ext cx="495300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E7F3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2E8374-A648-4E08-863F-6B776E47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809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마케팅 제외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A48184-734F-4556-B2FF-E7A890B2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479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월 평균 약 90만 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18EE5D-B378-4B19-91E4-8B24A5D3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194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3개월 총 약 270만 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0D57DD-5A17-4700-BCA8-32B7D12D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76650"/>
            <a:ext cx="4953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558B2D-6B67-45CB-86A8-DAC6357D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962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손익분기 가정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304D85-DA93-47BB-B530-38C57AD8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4386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Premium 390명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7F2A9E-7988-4592-A52F-A190841B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386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A36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5A36D"/>
                </a:solidFill>
                <a:latin typeface="Malgun Gothic"/>
                <a:ea typeface="Malgun Gothic"/>
                <a:cs typeface="Malgun Gothic"/>
              </a:rPr>
              <a:t>Max 115명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B5906D-E38D-46A0-BDDB-DA81170E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0101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보고서의 가격과 비용 가정에 따른 단순 계산</a:t>
            </a:r>
          </a:p>
        </p:txBody>
      </p:sp>
    </p:spTree>
    <p:extLst>
      <p:ext uri="{BB962C8B-B14F-4D97-AF65-F5344CB8AC3E}">
        <p14:creationId xmlns:p14="http://schemas.microsoft.com/office/powerpoint/2010/main" val="114850270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64EFEE-9A4F-4453-9557-1598EDBE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2F09A-E8F5-4A9B-92FF-F476E1EE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부록 | 멘토 의견이 제시한 남은 우선순위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FE8335-D760-4602-A2F2-D99FEF94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678D1-2F6F-4DEF-9DC4-78874D24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AI·SW마에스트로 제17기 · 369팀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6D7183-B5B4-47E1-827E-27DDC78A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53B147-CC56-4EFF-8E14-C8C81D36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3333750" cy="2000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7F3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6EA63E-C375-45FE-940F-0B0DBC62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335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95AC8D-B025-46D3-8C41-D37706DB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기획·AI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F2CEF5-4308-478C-8E72-50463D98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MVP 핵심 가치와 확장 기능을 분리하고 각 지표의 정량 목표와 실제 검증 결과를 제시.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923B70-69FB-4F14-8A5E-9FD3143E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62100"/>
            <a:ext cx="3333750" cy="2000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146D15-33A1-4612-A08D-5678088A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7335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7082BA-1773-4BDC-8912-3042B99F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955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Backend·DB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762B86-742C-4673-9F24-E777D327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5270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AI 실패·Callback 유실·중복 요청·서버 재시작에도 작업 상태와 데이터 정합성을 검증.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28A386-2797-40EF-A09D-12FCE73A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62100"/>
            <a:ext cx="3333750" cy="2000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B3D6EF-E5C1-4A9A-9893-4DC4BE24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335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B2B915-3311-4F9F-80F0-53EA4676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955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모바일·UX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F6DD66-F1EF-4560-AEE7-B5A958BB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5270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지표 기반 기반 작업을 활용하되 기록·회고 시장을 넓히는 사용자 가치와 전략을 구체화.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0A1B65-0748-4A54-B831-9D129DE0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9550"/>
            <a:ext cx="11163300" cy="1352550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E7F3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6B6C77-A283-4F88-AD7D-FA130EBE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공통 방향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A4187D-34B2-433D-B30C-413349DA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291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새로운 기술과 기능을 더 넓히기보다 이미 구현한 핵심 기능의 완성도와 사용자 가치를 실제 데이터로 검증한다.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66ECCC-28C9-4806-AE3E-A8D8971C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53000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보고서의 담당멘토 의견과 기획심의 반영 내용을 종합한 표현입니다.</a:t>
            </a:r>
          </a:p>
        </p:txBody>
      </p:sp>
    </p:spTree>
    <p:extLst>
      <p:ext uri="{BB962C8B-B14F-4D97-AF65-F5344CB8AC3E}">
        <p14:creationId xmlns:p14="http://schemas.microsoft.com/office/powerpoint/2010/main" val="17911106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2026-08-16T11:59:11.5670000Z</dcterms:created>
  <dcterms:modified xsi:type="dcterms:W3CDTF">2026-08-16T11:59:11.5670000Z</dcterms:modified>
</coreProperties>
</file>