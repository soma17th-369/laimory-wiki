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2480" y="1985985"/>
            <a:ext cx="5898886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8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AI·SW마에스트로 제17기 서울센터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52480" y="2328885"/>
            <a:ext cx="5898886" cy="83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29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</a:t>
            </a:r>
            <a:endParaRPr lang="en-US" sz="5850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3262305"/>
            <a:ext cx="58988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-3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라이프 로그를 하루의 기억으로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500" y="3909974"/>
            <a:ext cx="685800" cy="47640"/>
          </a:xfrm>
          <a:prstGeom prst="roundRect">
            <a:avLst>
              <a:gd name="adj" fmla="val 49904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2480" y="4243365"/>
            <a:ext cx="5898886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b="1" spc="-3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중간점검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552480" y="4652924"/>
            <a:ext cx="5898886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369팀 · 이동건 · 정수현 · 전형선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7003847" y="0"/>
            <a:ext cx="5188214" cy="685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80066" y="2749509"/>
            <a:ext cx="4235684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76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pPr algn="l" indent="0" marL="0">
              <a:lnSpc>
                <a:spcPct val="100000"/>
              </a:lnSpc>
              <a:buNone/>
            </a:pPr>
            <a:r>
              <a:rPr lang="en-US" sz="2550" b="1" spc="-76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ife + </a:t>
            </a:r>
            <a:pPr algn="l" indent="0" marL="0">
              <a:lnSpc>
                <a:spcPct val="100000"/>
              </a:lnSpc>
              <a:buNone/>
            </a:pPr>
            <a:r>
              <a:rPr lang="en-US" sz="2550" b="1" spc="-76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pPr algn="l" indent="0" marL="0">
              <a:lnSpc>
                <a:spcPct val="100000"/>
              </a:lnSpc>
              <a:buNone/>
            </a:pPr>
            <a:r>
              <a:rPr lang="en-US" sz="2550" b="1" spc="-76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Me</a:t>
            </a:r>
            <a:pPr algn="l" indent="0" marL="0">
              <a:lnSpc>
                <a:spcPct val="100000"/>
              </a:lnSpc>
              <a:buNone/>
            </a:pPr>
            <a:r>
              <a:rPr lang="en-US" sz="2550" b="1" spc="-76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mory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7480066" y="3378159"/>
            <a:ext cx="4235684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3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· 일정 · 건강 · 알림을</a:t>
            </a:r>
            <a:endParaRPr lang="en-US" sz="123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3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연결해 하루의 타임라인으로 정리하고,</a:t>
            </a:r>
            <a:endParaRPr lang="en-US" sz="1238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238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일상과 목표를 이어 성장을 돕는 서비스</a:t>
            </a:r>
            <a:endParaRPr lang="en-US" sz="12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시장 검토에서 시작해 </a:t>
            </a:r>
            <a:pPr algn="l" indent="0" marL="0">
              <a:lnSpc>
                <a:spcPct val="145000"/>
              </a:lnSpc>
              <a:buNone/>
            </a:pPr>
            <a:r>
              <a:rPr lang="en-US" sz="1313" b="1" spc="-1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진행현황</a:t>
            </a:r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남은 검증 계획까지 9개 장으로 구성했습니다.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6862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4350" y="1666585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14350" y="1857055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문제인식 · 기획의도</a:t>
            </a:r>
            <a:endParaRPr lang="en-US" sz="1313" dirty="0"/>
          </a:p>
        </p:txBody>
      </p:sp>
      <p:sp>
        <p:nvSpPr>
          <p:cNvPr id="8" name="Text 6"/>
          <p:cNvSpPr txBox="1"/>
          <p:nvPr/>
        </p:nvSpPr>
        <p:spPr>
          <a:xfrm>
            <a:off x="514350" y="2114276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수요 증가 · 데이터 파편화 · 기존 AI의 한계 · 기획의도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4311579" y="1542776"/>
            <a:ext cx="356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2559" y="1666585"/>
            <a:ext cx="360685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92559" y="1857055"/>
            <a:ext cx="3606851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313" dirty="0"/>
          </a:p>
        </p:txBody>
      </p:sp>
      <p:sp>
        <p:nvSpPr>
          <p:cNvPr id="12" name="Text 10"/>
          <p:cNvSpPr txBox="1"/>
          <p:nvPr/>
        </p:nvSpPr>
        <p:spPr>
          <a:xfrm>
            <a:off x="4292559" y="2114276"/>
            <a:ext cx="3606851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정의 · 주요 기능 3종 · MVP 범위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8089880" y="1542776"/>
            <a:ext cx="356862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0860" y="1666585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70860" y="1857055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· 사용자</a:t>
            </a:r>
            <a:endParaRPr lang="en-US" sz="1313" dirty="0"/>
          </a:p>
        </p:txBody>
      </p:sp>
      <p:sp>
        <p:nvSpPr>
          <p:cNvPr id="16" name="Text 14"/>
          <p:cNvSpPr txBox="1"/>
          <p:nvPr/>
        </p:nvSpPr>
        <p:spPr>
          <a:xfrm>
            <a:off x="8070860" y="2114276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 · 국내 기록 행동 · 페르소나 · 유사 서비스</a:t>
            </a:r>
            <a:endParaRPr lang="en-US" sz="1013" dirty="0"/>
          </a:p>
        </p:txBody>
      </p:sp>
      <p:sp>
        <p:nvSpPr>
          <p:cNvPr id="17" name="Shape 15"/>
          <p:cNvSpPr/>
          <p:nvPr/>
        </p:nvSpPr>
        <p:spPr>
          <a:xfrm>
            <a:off x="533370" y="2427549"/>
            <a:ext cx="356862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350" y="2551359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14350" y="2741828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313" dirty="0"/>
          </a:p>
        </p:txBody>
      </p:sp>
      <p:sp>
        <p:nvSpPr>
          <p:cNvPr id="20" name="Text 18"/>
          <p:cNvSpPr txBox="1"/>
          <p:nvPr/>
        </p:nvSpPr>
        <p:spPr>
          <a:xfrm>
            <a:off x="514350" y="2999049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구성도 · 모바일 로그 수집</a:t>
            </a:r>
            <a:endParaRPr lang="en-US" sz="1013" dirty="0"/>
          </a:p>
        </p:txBody>
      </p:sp>
      <p:sp>
        <p:nvSpPr>
          <p:cNvPr id="21" name="Shape 19"/>
          <p:cNvSpPr/>
          <p:nvPr/>
        </p:nvSpPr>
        <p:spPr>
          <a:xfrm>
            <a:off x="4311579" y="2427549"/>
            <a:ext cx="356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2559" y="2551359"/>
            <a:ext cx="360685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292559" y="2741828"/>
            <a:ext cx="3606851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멘토 · 일정</a:t>
            </a:r>
            <a:endParaRPr lang="en-US" sz="1313" dirty="0"/>
          </a:p>
        </p:txBody>
      </p:sp>
      <p:sp>
        <p:nvSpPr>
          <p:cNvPr id="24" name="Text 22"/>
          <p:cNvSpPr txBox="1"/>
          <p:nvPr/>
        </p:nvSpPr>
        <p:spPr>
          <a:xfrm>
            <a:off x="4292559" y="2999049"/>
            <a:ext cx="3606851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 · 멘토 구성 · 추진 일정</a:t>
            </a:r>
            <a:endParaRPr lang="en-US" sz="1013" dirty="0"/>
          </a:p>
        </p:txBody>
      </p:sp>
      <p:sp>
        <p:nvSpPr>
          <p:cNvPr id="25" name="Shape 23"/>
          <p:cNvSpPr/>
          <p:nvPr/>
        </p:nvSpPr>
        <p:spPr>
          <a:xfrm>
            <a:off x="8089880" y="2427549"/>
            <a:ext cx="3568629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70860" y="2551359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070860" y="2741828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진행현황</a:t>
            </a:r>
            <a:endParaRPr lang="en-US" sz="1313" dirty="0"/>
          </a:p>
        </p:txBody>
      </p:sp>
      <p:sp>
        <p:nvSpPr>
          <p:cNvPr id="28" name="Text 26"/>
          <p:cNvSpPr txBox="1"/>
          <p:nvPr/>
        </p:nvSpPr>
        <p:spPr>
          <a:xfrm>
            <a:off x="8070860" y="2999049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· 서버 · AI · 제품 검증 · 마케팅 · KPI</a:t>
            </a:r>
            <a:endParaRPr lang="en-US" sz="1013" dirty="0"/>
          </a:p>
        </p:txBody>
      </p:sp>
      <p:sp>
        <p:nvSpPr>
          <p:cNvPr id="29" name="Shape 27"/>
          <p:cNvSpPr/>
          <p:nvPr/>
        </p:nvSpPr>
        <p:spPr>
          <a:xfrm>
            <a:off x="533370" y="3312323"/>
            <a:ext cx="356862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4350" y="3436132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14350" y="3626602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</a:t>
            </a:r>
            <a:endParaRPr lang="en-US" sz="1313" dirty="0"/>
          </a:p>
        </p:txBody>
      </p:sp>
      <p:sp>
        <p:nvSpPr>
          <p:cNvPr id="32" name="Text 30"/>
          <p:cNvSpPr txBox="1"/>
          <p:nvPr/>
        </p:nvSpPr>
        <p:spPr>
          <a:xfrm>
            <a:off x="514350" y="3883823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검증 루프 · 협업 · 통합 배포 · 예상 문제점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4311579" y="3312323"/>
            <a:ext cx="356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2559" y="3436132"/>
            <a:ext cx="360685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292559" y="3626602"/>
            <a:ext cx="3606851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· 기대효과</a:t>
            </a:r>
            <a:endParaRPr lang="en-US" sz="1313" dirty="0"/>
          </a:p>
        </p:txBody>
      </p:sp>
      <p:sp>
        <p:nvSpPr>
          <p:cNvPr id="36" name="Text 34"/>
          <p:cNvSpPr txBox="1"/>
          <p:nvPr/>
        </p:nvSpPr>
        <p:spPr>
          <a:xfrm>
            <a:off x="4292559" y="3883823"/>
            <a:ext cx="3606851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모델 · 운영 비용 · 기대효과</a:t>
            </a:r>
            <a:endParaRPr lang="en-US" sz="1013" dirty="0"/>
          </a:p>
        </p:txBody>
      </p:sp>
      <p:sp>
        <p:nvSpPr>
          <p:cNvPr id="37" name="Shape 35"/>
          <p:cNvSpPr/>
          <p:nvPr/>
        </p:nvSpPr>
        <p:spPr>
          <a:xfrm>
            <a:off x="8089880" y="3312323"/>
            <a:ext cx="356862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70860" y="3436132"/>
            <a:ext cx="36067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27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070860" y="3626602"/>
            <a:ext cx="3606759" cy="31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13" b="1" spc="-26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 의견 반영</a:t>
            </a:r>
            <a:endParaRPr lang="en-US" sz="1313" dirty="0"/>
          </a:p>
        </p:txBody>
      </p:sp>
      <p:sp>
        <p:nvSpPr>
          <p:cNvPr id="40" name="Text 38"/>
          <p:cNvSpPr txBox="1"/>
          <p:nvPr/>
        </p:nvSpPr>
        <p:spPr>
          <a:xfrm>
            <a:off x="8070860" y="3883823"/>
            <a:ext cx="3606759" cy="27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13" spc="-1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신뢰 · AI 필요성 · 리텐션 · 사용자 통제</a:t>
            </a:r>
            <a:endParaRPr lang="en-US" sz="1013" dirty="0"/>
          </a:p>
        </p:txBody>
      </p:sp>
      <p:sp>
        <p:nvSpPr>
          <p:cNvPr id="41" name="Shape 39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4350" y="6219840"/>
            <a:ext cx="27861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938" dirty="0"/>
          </a:p>
        </p:txBody>
      </p:sp>
      <p:sp>
        <p:nvSpPr>
          <p:cNvPr id="43" name="Text 41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문제인식 1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시대 속 라이프 로깅과 회고 수요의 증가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이미 모바일 기기에 남은 일상 데이터로 자신의 하루를 기록하고 회고하려 하고 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634520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" name="Image 0" descr="C:\Users\samsung\Desktop\Git Repositories\Laimory-wiki\raw\notes\laimory-midterm-presentation-html-assets\problem-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" y="2558308"/>
            <a:ext cx="6173754" cy="23696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26194" y="1542776"/>
            <a:ext cx="4532315" cy="173379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6754" y="1733245"/>
            <a:ext cx="415128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문화의 확산</a:t>
            </a:r>
            <a:endParaRPr lang="en-US" sz="1463" dirty="0"/>
          </a:p>
        </p:txBody>
      </p:sp>
      <p:sp>
        <p:nvSpPr>
          <p:cNvPr id="9" name="Text 6"/>
          <p:cNvSpPr txBox="1"/>
          <p:nvPr/>
        </p:nvSpPr>
        <p:spPr>
          <a:xfrm>
            <a:off x="7316754" y="2069836"/>
            <a:ext cx="4151285" cy="111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속 사진을 대량으로 업로드하는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 Dump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트렌드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매시간 알림에 맞추어 2~4초 영상을 남기는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Log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일정 · 운동 기록으로 일상을 디지털에 저장하는 흐름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26194" y="3448020"/>
            <a:ext cx="4532315" cy="1403421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6754" y="3638580"/>
            <a:ext cx="415128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시장도 같은 방향</a:t>
            </a:r>
            <a:endParaRPr lang="en-US" sz="1463" dirty="0"/>
          </a:p>
        </p:txBody>
      </p:sp>
      <p:sp>
        <p:nvSpPr>
          <p:cNvPr id="12" name="Text 9"/>
          <p:cNvSpPr txBox="1"/>
          <p:nvPr/>
        </p:nvSpPr>
        <p:spPr>
          <a:xfrm>
            <a:off x="7316754" y="3975171"/>
            <a:ext cx="4151285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Digital Journal Apps 시장은 큰 폭의 성장이 전망되고 있습니다. 기록과 회고는 특정 세대의 일시적 유행을 넘어 반복적으로 확인되는 사용자 행동입니다.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4350" y="6219840"/>
            <a:ext cx="129003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문제인식 · 기획의도</a:t>
            </a:r>
            <a:endParaRPr lang="en-US" sz="938" dirty="0"/>
          </a:p>
        </p:txBody>
      </p:sp>
      <p:sp>
        <p:nvSpPr>
          <p:cNvPr id="15" name="Text 12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51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문제인식 2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라이프 로그 데이터의 파편화와 기록의 어려움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이미 기기에 쌓여 있지만 여러 곳에 흩어져 있어, 사용자가 직접 탐색하고 연결해야 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저장소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69836"/>
            <a:ext cx="3213110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갤러리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위치는 지도 · 기기 기록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일정은 캘린더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메모는 별도 앱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4858482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하루의 흐름이 한 곳에 모이지 않습니다.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지불하는 비용</a:t>
            </a:r>
            <a:endParaRPr lang="en-US" sz="1463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2069836"/>
            <a:ext cx="3213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정보를 직접 수집 · 정리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일정 · 감정을 스스로 회상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처음부터 작성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4858482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 · 인지적 비용이 매번 발생합니다.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4459" y="1542776"/>
            <a:ext cx="3594141" cy="3734867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4929" y="1733245"/>
            <a:ext cx="3213202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54929" y="219995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일기 챌린지의 6개월 이상 지속 비율</a:t>
            </a:r>
            <a:endParaRPr lang="en-US" sz="1163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457176"/>
            <a:ext cx="3213202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보상이 있는 챌린지에서도 대부분이 중도에 멈췄습니다. 중도 이탈의 원인은 의지보다 매번 기록에 드는 비용에 있습니다.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입력에 의존하는 구조에서는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장기적으로 지속되기 어렵습니다.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4350" y="6219840"/>
            <a:ext cx="129003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문제인식 · 기획의도</a:t>
            </a:r>
            <a:endParaRPr lang="en-US" sz="938" dirty="0"/>
          </a:p>
        </p:txBody>
      </p:sp>
      <p:sp>
        <p:nvSpPr>
          <p:cNvPr id="21" name="Text 19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51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문제인식 3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회고 수요의 증가와 기존 AI 서비스의 한계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AI와 대화하며 삶을 돌아보는 데 익숙해졌지만, 그 AI는 사용자의 실제 삶을 모릅니다.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3734867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수요는 이미 형성됨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69836"/>
            <a:ext cx="5095860" cy="111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· LLM이 대화 맥락 기억, 파일 · 도구 활용, 개인화 응답으로 빠르게 발전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대화하며 감정을 돌아보고 위로를 받는 회고 행동이 일상화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서비스와 AI의 결합 사례도 계속 등장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실제 삶의 데이터와 끊어져 있음</a:t>
            </a:r>
            <a:endParaRPr lang="en-US" sz="1463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69836"/>
            <a:ext cx="5095860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기록 · 일정을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통합적으로 이해하지 못함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삶 기반의 기억 복원이 어려움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장기적인 생활 패턴 분석이 어려움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개인화된 회고 경험을 제공하는 데 한계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진정한 개인화 AI 경험을 위해서는 대화 맥락을 넘어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실제 삶의 데이터가 연결되어야 합니다.</a:t>
            </a:r>
            <a:endParaRPr lang="en-US" sz="1238" dirty="0"/>
          </a:p>
        </p:txBody>
      </p:sp>
      <p:sp>
        <p:nvSpPr>
          <p:cNvPr id="13" name="Shape 1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4350" y="6219840"/>
            <a:ext cx="129003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문제인식 · 기획의도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51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기획의도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생활 데이터를 하루의 기록과 장기 기억으로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데이터를 직접 탐색하고 정리하지 않아도, AI가 하루를 타임라인으로 정리하고 그 기록이 쌓여 Personal AI Memory가 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702692" cy="309588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6780" y="1704716"/>
            <a:ext cx="2436053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6780" y="1923806"/>
            <a:ext cx="2436053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연결</a:t>
            </a:r>
            <a:endParaRPr lang="en-US" sz="1238" dirty="0"/>
          </a:p>
        </p:txBody>
      </p:sp>
      <p:sp>
        <p:nvSpPr>
          <p:cNvPr id="8" name="Text 6"/>
          <p:cNvSpPr txBox="1"/>
          <p:nvPr/>
        </p:nvSpPr>
        <p:spPr>
          <a:xfrm>
            <a:off x="666780" y="2191542"/>
            <a:ext cx="2436053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· 일정 · 메모 등 기기에 이미 존재하는 생활 데이터를 통합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0852" y="1542776"/>
            <a:ext cx="2702692" cy="309588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263" y="1704716"/>
            <a:ext cx="2436053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74263" y="1923806"/>
            <a:ext cx="2436053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정리</a:t>
            </a:r>
            <a:endParaRPr lang="en-US" sz="1238" dirty="0"/>
          </a:p>
        </p:txBody>
      </p:sp>
      <p:sp>
        <p:nvSpPr>
          <p:cNvPr id="12" name="Text 10"/>
          <p:cNvSpPr txBox="1"/>
          <p:nvPr/>
        </p:nvSpPr>
        <p:spPr>
          <a:xfrm>
            <a:off x="3474263" y="2191542"/>
            <a:ext cx="2436053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사건과 시간의 맥락을 추론해 타임라인 초안을 구성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8426" y="1542776"/>
            <a:ext cx="2702692" cy="309588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745" y="1704716"/>
            <a:ext cx="2436053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81745" y="1923806"/>
            <a:ext cx="2436053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확정</a:t>
            </a:r>
            <a:endParaRPr lang="en-US" sz="1238" dirty="0"/>
          </a:p>
        </p:txBody>
      </p:sp>
      <p:sp>
        <p:nvSpPr>
          <p:cNvPr id="16" name="Text 14"/>
          <p:cNvSpPr txBox="1"/>
          <p:nvPr/>
        </p:nvSpPr>
        <p:spPr>
          <a:xfrm>
            <a:off x="6281745" y="2191542"/>
            <a:ext cx="2436053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삭제 · 메모로 사용자가 자신의 기록을 완성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55908" y="1542776"/>
            <a:ext cx="2702692" cy="30958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9227" y="1704716"/>
            <a:ext cx="2436053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089227" y="1923806"/>
            <a:ext cx="2436053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AI Memory</a:t>
            </a:r>
            <a:endParaRPr lang="en-US" sz="1238" dirty="0"/>
          </a:p>
        </p:txBody>
      </p:sp>
      <p:sp>
        <p:nvSpPr>
          <p:cNvPr id="20" name="Text 18"/>
          <p:cNvSpPr txBox="1"/>
          <p:nvPr/>
        </p:nvSpPr>
        <p:spPr>
          <a:xfrm>
            <a:off x="9089227" y="2191542"/>
            <a:ext cx="2436053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삶의 맥락으로 기억 복원 · 패턴 분석 · 개인화된 회고 제공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3370" y="4810110"/>
            <a:ext cx="5476890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3930" y="50006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서비스의 한계 개선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3930" y="5295930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직접 입력에 의존하던 구조를 개선해, 기록을 시작하는 비용을 낮춥니다.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1710" y="4810110"/>
            <a:ext cx="5476890" cy="11334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72271" y="50006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AI 경험 제공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72271" y="5295930"/>
            <a:ext cx="50958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삶의 데이터를 연결 · 이해하는 Personal AI Memory를 구축합니다.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4350" y="6219840"/>
            <a:ext cx="129003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문제인식 · 기획의도</a:t>
            </a:r>
            <a:endParaRPr lang="en-US" sz="938" dirty="0"/>
          </a:p>
        </p:txBody>
      </p:sp>
      <p:sp>
        <p:nvSpPr>
          <p:cNvPr id="29" name="Text 27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51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삶을 기억하는 AI, Laimory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기기 속 흘러가는 일상의 정보를 모아 연결하고 정리하여, 사용자의 삶을 기억하고 이해하며 목표 달성을 돕는 AI Memory.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4532315" cy="4400824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4151285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b="1" spc="-10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</a:t>
            </a:r>
            <a:endParaRPr lang="en-US" sz="2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50" b="1" spc="-10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</a:t>
            </a:r>
            <a:endParaRPr lang="en-US" sz="2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50" b="1" spc="-10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Memory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3148279"/>
            <a:ext cx="4151285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Laimory는 사용자의 모바일 기기 속 일상 정보를 AI가 자동으로 수집 · 구조화하여 하루를 기록하고, 일상과 목표를 연결해 성장을 돕는 라이프 로깅 서비스입니다.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2950" y="5515021"/>
            <a:ext cx="684154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610" y="5515021"/>
            <a:ext cx="55083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en-US" sz="938" dirty="0"/>
          </a:p>
        </p:txBody>
      </p:sp>
      <p:sp>
        <p:nvSpPr>
          <p:cNvPr id="10" name="Shape 8"/>
          <p:cNvSpPr/>
          <p:nvPr/>
        </p:nvSpPr>
        <p:spPr>
          <a:xfrm>
            <a:off x="1484254" y="5515021"/>
            <a:ext cx="1273119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0914" y="5515021"/>
            <a:ext cx="11398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애플리케이션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2814432" y="5515021"/>
            <a:ext cx="1293236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1092" y="5515021"/>
            <a:ext cx="115982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· 기반SW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5313304" y="1542776"/>
            <a:ext cx="6345204" cy="15083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3865" y="1733245"/>
            <a:ext cx="5964174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제품과의 차별점</a:t>
            </a:r>
            <a:endParaRPr lang="en-US" sz="1463" dirty="0"/>
          </a:p>
        </p:txBody>
      </p:sp>
      <p:sp>
        <p:nvSpPr>
          <p:cNvPr id="16" name="Text 14"/>
          <p:cNvSpPr txBox="1"/>
          <p:nvPr/>
        </p:nvSpPr>
        <p:spPr>
          <a:xfrm>
            <a:off x="5503865" y="2069836"/>
            <a:ext cx="5964174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데이터 기반 하루 자동 기록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추가 기기 없이 이미 보유한 데이터를 활용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기록 기반 목표 추적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별도의 목표 일지 없이 행동과 목표를 연결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삶 전체 맥락 기반 개인화 AI 대화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대화 맥락이 아닌 생활 데이터에 기반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13304" y="3222620"/>
            <a:ext cx="6345204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03865" y="3413089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형태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03865" y="3708349"/>
            <a:ext cx="5964174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애플리케이션으로 Google Play Store를 통해 배포하며, 이용 횟수에 따른 차등 등급 구독형 서비스로 제공합니다.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4350" y="6219840"/>
            <a:ext cx="97923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프로젝트 개요</a:t>
            </a:r>
            <a:endParaRPr lang="en-US" sz="938" dirty="0"/>
          </a:p>
        </p:txBody>
      </p:sp>
      <p:sp>
        <p:nvSpPr>
          <p:cNvPr id="22" name="Text 20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51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기록에서 목표 추적, 장기 개인화까지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기능은 하루의 기록이 쌓여야 다음 단계가 가능해지는 순차 구조로 설계했습니다.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18571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38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타임라인 기록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27057"/>
            <a:ext cx="3213110" cy="170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캘린더 일정 · 이동 GPS · Health Connect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보고, 하고, 어디를 갔고, 얼마나 잤는지를 AI가 연결 · 분석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하루의 타임라인으로 구성해 제시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수정하고 느낀 점 · 배운 점 · 감정을 메모해 기록 완성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742950" y="5515021"/>
            <a:ext cx="1059332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610" y="5515021"/>
            <a:ext cx="92601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구현 완료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429896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9430" y="1733245"/>
            <a:ext cx="18571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38" dirty="0"/>
          </a:p>
        </p:txBody>
      </p:sp>
      <p:sp>
        <p:nvSpPr>
          <p:cNvPr id="13" name="Text 11"/>
          <p:cNvSpPr txBox="1"/>
          <p:nvPr/>
        </p:nvSpPr>
        <p:spPr>
          <a:xfrm>
            <a:off x="44894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기반 목표 추적</a:t>
            </a:r>
            <a:endParaRPr lang="en-US" sz="1463" dirty="0"/>
          </a:p>
        </p:txBody>
      </p:sp>
      <p:sp>
        <p:nvSpPr>
          <p:cNvPr id="14" name="Text 12"/>
          <p:cNvSpPr txBox="1"/>
          <p:nvPr/>
        </p:nvSpPr>
        <p:spPr>
          <a:xfrm>
            <a:off x="4489430" y="2327057"/>
            <a:ext cx="3213110" cy="12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목표를 설정하면 완성된 타임라인과 일기에서 관련 행동 · 경험을 확인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질문을 제공하고 답변으로 정보를 보완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향한 과정과 변화를 지속적으로 기록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일상의 기록이 성장 과정으로 이어지도록 지원</a:t>
            </a:r>
            <a:endParaRPr lang="en-US" sz="1148" dirty="0"/>
          </a:p>
        </p:txBody>
      </p:sp>
      <p:sp>
        <p:nvSpPr>
          <p:cNvPr id="15" name="Shape 13"/>
          <p:cNvSpPr/>
          <p:nvPr/>
        </p:nvSpPr>
        <p:spPr>
          <a:xfrm>
            <a:off x="4508449" y="5515021"/>
            <a:ext cx="1059332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5109" y="5515021"/>
            <a:ext cx="92601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개발 예정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8064459" y="1542776"/>
            <a:ext cx="3594141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4929" y="1733245"/>
            <a:ext cx="18571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8254929" y="1990466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기반 AI 대화</a:t>
            </a:r>
            <a:endParaRPr lang="en-US" sz="1463" dirty="0"/>
          </a:p>
        </p:txBody>
      </p:sp>
      <p:sp>
        <p:nvSpPr>
          <p:cNvPr id="20" name="Text 18"/>
          <p:cNvSpPr txBox="1"/>
          <p:nvPr/>
        </p:nvSpPr>
        <p:spPr>
          <a:xfrm>
            <a:off x="8254929" y="2327057"/>
            <a:ext cx="3213202" cy="149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위치 · 일정 · 사진을 이해하는 챗봇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· 일주일 · 한 달을 하나의 기억처럼 검색 · 회상 · 분석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복원, 생활 패턴 분석, 변화 비교 제공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품질이 보장될 만큼 데이터가 축적된 이후 사용하도록 설계</a:t>
            </a:r>
            <a:endParaRPr lang="en-US" sz="1148" dirty="0"/>
          </a:p>
        </p:txBody>
      </p:sp>
      <p:sp>
        <p:nvSpPr>
          <p:cNvPr id="21" name="Shape 19"/>
          <p:cNvSpPr/>
          <p:nvPr/>
        </p:nvSpPr>
        <p:spPr>
          <a:xfrm>
            <a:off x="8273948" y="5515021"/>
            <a:ext cx="1307135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40700" y="5515021"/>
            <a:ext cx="117372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· 데이터 축적 후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4350" y="6219840"/>
            <a:ext cx="97923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프로젝트 개요</a:t>
            </a:r>
            <a:endParaRPr lang="en-US" sz="938" dirty="0"/>
          </a:p>
        </p:txBody>
      </p:sp>
      <p:sp>
        <p:nvSpPr>
          <p:cNvPr id="25" name="Text 23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51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타임라인 기록과 목표 추적으로 한정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기획심의와 멘토 의견을 반영해, 먼저 검증할 핵심 사용자 가치와 이후 확장 기능을 명확히 구분했습니다.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3095884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950" y="1733245"/>
            <a:ext cx="1059332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610" y="1733245"/>
            <a:ext cx="92601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구현 완료</a:t>
            </a:r>
            <a:endParaRPr lang="en-US" sz="938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06663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타임라인 기록</a:t>
            </a:r>
            <a:endParaRPr lang="en-US" sz="1463" dirty="0"/>
          </a:p>
        </p:txBody>
      </p:sp>
      <p:sp>
        <p:nvSpPr>
          <p:cNvPr id="9" name="Text 7"/>
          <p:cNvSpPr txBox="1"/>
          <p:nvPr/>
        </p:nvSpPr>
        <p:spPr>
          <a:xfrm>
            <a:off x="723930" y="2403226"/>
            <a:ext cx="321311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AI 생성 → 확인 → 수정 · 메모 → 확정까지 핵심 흐름 구현 후 알파 테스트 진행 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8960" y="1542776"/>
            <a:ext cx="3594049" cy="3095884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8449" y="1733245"/>
            <a:ext cx="1059332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5109" y="1733245"/>
            <a:ext cx="92601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개발 예정</a:t>
            </a:r>
            <a:endParaRPr lang="en-US" sz="938" dirty="0"/>
          </a:p>
        </p:txBody>
      </p:sp>
      <p:sp>
        <p:nvSpPr>
          <p:cNvPr id="13" name="Text 11"/>
          <p:cNvSpPr txBox="1"/>
          <p:nvPr/>
        </p:nvSpPr>
        <p:spPr>
          <a:xfrm>
            <a:off x="4489430" y="206663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기반 목표 추적</a:t>
            </a:r>
            <a:endParaRPr lang="en-US" sz="1463" dirty="0"/>
          </a:p>
        </p:txBody>
      </p:sp>
      <p:sp>
        <p:nvSpPr>
          <p:cNvPr id="14" name="Text 12"/>
          <p:cNvSpPr txBox="1"/>
          <p:nvPr/>
        </p:nvSpPr>
        <p:spPr>
          <a:xfrm>
            <a:off x="4489430" y="2403226"/>
            <a:ext cx="321311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품질이 안정화된 뒤 착수. 목표 등록 → 행동 확인 → 질문 · 리마인드 → 변화 기록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64459" y="1542776"/>
            <a:ext cx="3594141" cy="309588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0700" y="1733245"/>
            <a:ext cx="27386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8254929" y="2066635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기반 AI 대화</a:t>
            </a:r>
            <a:endParaRPr lang="en-US" sz="1463" dirty="0"/>
          </a:p>
        </p:txBody>
      </p:sp>
      <p:sp>
        <p:nvSpPr>
          <p:cNvPr id="18" name="Text 16"/>
          <p:cNvSpPr txBox="1"/>
          <p:nvPr/>
        </p:nvSpPr>
        <p:spPr>
          <a:xfrm>
            <a:off x="8254929" y="2403226"/>
            <a:ext cx="321320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품질이 충분히 축적된 이후 단계적으로 제공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3370" y="4810110"/>
            <a:ext cx="5476890" cy="11334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" y="50006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 · First Value Action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3930" y="5295930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생성된 타임라인을 확인하고 필요한 경우 수정한 뒤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일간 회고 작성을 완료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710" y="4810110"/>
            <a:ext cx="5476890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2271" y="50006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통제 원칙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72271" y="5295930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 확대보다 핵심 흐름의 안정성 · 품질 · 사용자 가치 검증을 우선합니다.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4350" y="6219840"/>
            <a:ext cx="97923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프로젝트 개요</a:t>
            </a:r>
            <a:endParaRPr lang="en-US" sz="938" dirty="0"/>
          </a:p>
        </p:txBody>
      </p:sp>
      <p:sp>
        <p:nvSpPr>
          <p:cNvPr id="27" name="Text 25"/>
          <p:cNvSpPr txBox="1"/>
          <p:nvPr/>
        </p:nvSpPr>
        <p:spPr>
          <a:xfrm>
            <a:off x="11282873" y="6219840"/>
            <a:ext cx="39483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51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분석 1 / 3 · 시장 동향 및 규모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저널 앱 시장은 연평균 10.1% 성장 전망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Straits Research 기준, 개인의 일상 기록과 회고를 위한 디지털 저널링 서비스 수요가 지속적으로 증가하고 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28672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$51억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19995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시장 규모</a:t>
            </a:r>
            <a:endParaRPr lang="en-US" sz="11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457176"/>
            <a:ext cx="321311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디지털 저널 앱 시장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2867284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$122.8억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219995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2033년 전망</a:t>
            </a:r>
            <a:endParaRPr lang="en-US" sz="1163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2457176"/>
            <a:ext cx="321311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2.4배 규모로 성장 전망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4459" y="1542776"/>
            <a:ext cx="3594141" cy="28672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4929" y="1733245"/>
            <a:ext cx="3213202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20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54929" y="219995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성장률 (CAGR)</a:t>
            </a:r>
            <a:endParaRPr lang="en-US" sz="1163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457176"/>
            <a:ext cx="321320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→ 2033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370" y="4581510"/>
            <a:ext cx="5476890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930" y="47720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플랫폼의 진입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3930" y="5067330"/>
            <a:ext cx="509586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Journal, Google Journal, Day One, Limitless 등 플랫폼 기업과 스타트업이 개인의 일상 기록과 회고를 지원하는 서비스를 계속 출시하고 있습니다.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1710" y="4581510"/>
            <a:ext cx="5476890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2271" y="4772071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72271" y="5067330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자체의 수요는 이미 검증된 시장이며, 경쟁은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얼마나 쉽게 시작하고 지속하게 하는가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옮겨가고 있습니다.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4350" y="6219840"/>
            <a:ext cx="92930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시장 · 사용자</a:t>
            </a:r>
            <a:endParaRPr lang="en-US" sz="938" dirty="0"/>
          </a:p>
        </p:txBody>
      </p:sp>
      <p:sp>
        <p:nvSpPr>
          <p:cNvPr id="25" name="Text 2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51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분석 2 / 3 · 국내 수요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국내에서도 기록 행동은 대규모로 확인됩니다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네이버의 기록형 캠페인과 인스타그램 해시태그 누적량은 기록하려는 수요가 이미 존재함을 보여줍니다.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2981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103만 명</a:t>
            </a:r>
            <a:endParaRPr lang="en-US" sz="2325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114276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주간일기 챌린지</a:t>
            </a:r>
            <a:endParaRPr lang="en-US" sz="11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71405"/>
            <a:ext cx="321311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중 14만 명이 6개월 지속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2981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230만 건</a:t>
            </a:r>
            <a:endParaRPr lang="en-US" sz="2325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2114276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체크인 챌린지</a:t>
            </a:r>
            <a:endParaRPr lang="en-US" sz="1163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2371405"/>
            <a:ext cx="321311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기록 건수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4459" y="1542776"/>
            <a:ext cx="3594141" cy="2981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4929" y="1733245"/>
            <a:ext cx="321320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66만 명</a:t>
            </a:r>
            <a:endParaRPr lang="en-US" sz="2325" dirty="0"/>
          </a:p>
        </p:txBody>
      </p:sp>
      <p:sp>
        <p:nvSpPr>
          <p:cNvPr id="15" name="Text 13"/>
          <p:cNvSpPr txBox="1"/>
          <p:nvPr/>
        </p:nvSpPr>
        <p:spPr>
          <a:xfrm>
            <a:off x="8254929" y="2114276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포토덤프 챌린지</a:t>
            </a:r>
            <a:endParaRPr lang="en-US" sz="1163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371405"/>
            <a:ext cx="321320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6,200만 장 사진 업로드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370" y="4695810"/>
            <a:ext cx="2652674" cy="12477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930" y="4886371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#일상기록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3930" y="5181630"/>
            <a:ext cx="2271735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948만 건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57585" y="4695810"/>
            <a:ext cx="2652674" cy="12477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8055" y="4886371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#오운완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48055" y="5181630"/>
            <a:ext cx="2271735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945만 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81710" y="4695810"/>
            <a:ext cx="2652674" cy="12477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2271" y="4886371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#만보걷기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72271" y="5181630"/>
            <a:ext cx="2271735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146만 건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05926" y="4695810"/>
            <a:ext cx="2652674" cy="12477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96395" y="4886371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마이모리 (국내 AI 감정 기록)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96395" y="5181630"/>
            <a:ext cx="2271735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50만 다운로드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96395" y="5524530"/>
            <a:ext cx="227173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1년 기준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4350" y="6219840"/>
            <a:ext cx="92930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시장 · 사용자</a:t>
            </a:r>
            <a:endParaRPr lang="en-US" sz="938" dirty="0"/>
          </a:p>
        </p:txBody>
      </p:sp>
      <p:sp>
        <p:nvSpPr>
          <p:cNvPr id="32" name="Text 30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51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분석 3 / 3 · 해석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수요는 크지만, 지속률에서 무너집니다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캠페인 데이터를 참여율이 아니라 지속률로 보면, 시장의 빈자리가 드러납니다.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6526439" cy="17748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6145408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주간일기 챌린지의 지속률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36552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2305020" y="2055571"/>
            <a:ext cx="3497489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2305020" y="2055571"/>
            <a:ext cx="3497489" cy="152430"/>
          </a:xfrm>
          <a:prstGeom prst="roundRect">
            <a:avLst>
              <a:gd name="adj" fmla="val 4997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808" y="2031797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103만 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3930" y="2360432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지속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2305020" y="2379452"/>
            <a:ext cx="3497489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2305020" y="2379452"/>
            <a:ext cx="475671" cy="152430"/>
          </a:xfrm>
          <a:prstGeom prst="roundRect">
            <a:avLst>
              <a:gd name="adj" fmla="val 4997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16808" y="2355586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14만 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3930" y="2669957"/>
            <a:ext cx="6145408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보상이 있어도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15%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남았습니다. 기록을 시작하게 만드는 것보다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계속하게 만드는 것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어려운 문제입니다.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07519" y="1542776"/>
            <a:ext cx="4350990" cy="9048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7989" y="1733245"/>
            <a:ext cx="39700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수요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97989" y="2028505"/>
            <a:ext cx="397005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충분히 크고 반복적으로 확인됨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07519" y="2619116"/>
            <a:ext cx="4350990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7989" y="2809585"/>
            <a:ext cx="39700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결합 수요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7989" y="3104845"/>
            <a:ext cx="397005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저장을 넘어 감정 분석 · 개인화 기능에 실사용 수요 존재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07519" y="3924056"/>
            <a:ext cx="4350990" cy="13620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7989" y="4114526"/>
            <a:ext cx="39700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Laimory의 가설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97989" y="4409785"/>
            <a:ext cx="397005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지속률을 무너뜨리는 원인이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처음부터 작성하는 비용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이라면, 초안을 먼저 제공해 그 비용을 없애는 방식이 지속률을 바꿀 수 있습니다.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4350" y="6219840"/>
            <a:ext cx="92930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시장 · 사용자</a:t>
            </a:r>
            <a:endParaRPr lang="en-US" sz="938" dirty="0"/>
          </a:p>
        </p:txBody>
      </p:sp>
      <p:sp>
        <p:nvSpPr>
          <p:cNvPr id="27" name="Text 2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51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분석 및 페르소나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하루가 너무 빠른 사회초년생 · 저연차 직장인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필요성은 이미 알고 있지만 정리할 시간이 부족한 20대 후반 ~ 30대를 초기 핵심 사용자로 설정했습니다.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4532315" cy="4400824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4151285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75" b="1" spc="-9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후반</a:t>
            </a:r>
            <a:endParaRPr lang="en-US" sz="2475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475" b="1" spc="-9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30대</a:t>
            </a:r>
            <a:endParaRPr lang="en-US" sz="2475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514326"/>
            <a:ext cx="415128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사회초년생 · 저연차 직장인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850916"/>
            <a:ext cx="4151285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사진도 자주 찍고, 일정을 캘린더로 관리하며 일기를 쓰는 등 기록에 익숙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기록하고 싶지만 피로감을 느낌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생활 패턴 변화와 장기적인 흐름을 알고 싶어 함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5313304" y="1542776"/>
            <a:ext cx="6345204" cy="20164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03865" y="1733245"/>
            <a:ext cx="5964174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사용자를 먼저 선택한 이유</a:t>
            </a:r>
            <a:endParaRPr lang="en-US" sz="1463" dirty="0"/>
          </a:p>
        </p:txBody>
      </p:sp>
      <p:sp>
        <p:nvSpPr>
          <p:cNvPr id="11" name="Text 9"/>
          <p:cNvSpPr txBox="1"/>
          <p:nvPr/>
        </p:nvSpPr>
        <p:spPr>
          <a:xfrm>
            <a:off x="5503865" y="2069836"/>
            <a:ext cx="5964174" cy="139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필요성을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인식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있어 서비스 가치를 설명하는 비용이 낮음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곳에 흩어진 생활 기록을 직접 정리하는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불편을 이미 경험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있음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업무 · 관계 · 경험이 빠르게 축적되어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회고의 필요가 큼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반면 이를 정리할 시간은 부족하므로 AI 초안 방식의 효용을 빠르게 체감할 가능성이 높음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13304" y="3730661"/>
            <a:ext cx="6345204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3865" y="3921130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지점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03865" y="4216390"/>
            <a:ext cx="5964174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가설이 맞다면, 이 집단에서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일간 회고 완료율과 D7 리텐션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먼저 나타나야 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4350" y="6219840"/>
            <a:ext cx="92930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시장 · 사용자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51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서비스 분석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서비스는 세 유형으로 구분됩니다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유형 모두 자동 수집과 자동 작성 사이의 마지막 단계를 사용자에게 남겨두고 있습니다.</a:t>
            </a:r>
            <a:endParaRPr lang="en-US" sz="1313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2113727"/>
                <a:gridCol w="2558674"/>
                <a:gridCol w="3226278"/>
                <a:gridCol w="3226552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 사용한 로깅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Limitless Pendant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수집, AI 검색, 기억 보조, 업무 중심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웨어러블 기기 의존으로 인한 높은 진입장벽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저널링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One · Reflectly · 마이모리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 기록, 자기 성찰, AI 질문을 통한 기록, 수동 작성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입력 의존, 기록 누락 및 장기 맥락 분석 한계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기반 저널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Journal · Google Journal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기기의 데이터 기반 추천, 수동 작성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수집은 지원하지만 최종 기록은 수동 작성, 특정 생태계 종속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Laimory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기반 Personal AI Memory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기기 없이 보유 데이터를 자동 연결하고 AI가 하루의 초안을 먼저 작성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동의율과 초기 타임라인 품질을 실제 사용자로 검증해야 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차별점은 데이터를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있지 않고, 수집한 데이터를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확정만 하면 되는 기록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만들어 두는 데 있습니다.</a:t>
            </a:r>
            <a:endParaRPr lang="en-US" sz="1238" dirty="0"/>
          </a:p>
        </p:txBody>
      </p:sp>
      <p:sp>
        <p:nvSpPr>
          <p:cNvPr id="8" name="Shape 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4350" y="6219840"/>
            <a:ext cx="92930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시장 · 사용자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51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구성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ap-northeast-2 단일 VPC에 Dev · Observability · Prod를 분리 배치하고, Public / Private Subnet 경계로 데이터 계층을 보호합니다.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634520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" name="Image 0" descr="C:\Users\samsung\Desktop\Git Repositories\Laimory-wiki\raw\notes\laimory-midterm-presentation-html-assets\syste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40" y="1813987"/>
            <a:ext cx="6173754" cy="38584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26194" y="1542776"/>
            <a:ext cx="4532315" cy="2592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6754" y="1733245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요약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6754" y="2028505"/>
            <a:ext cx="4151285" cy="20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허용된 생활 데이터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 API 1 · 2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ALB 뒤 Private Subnet EC2 2대 이중화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· Redis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Private Subnet 배치로 외부 직접 접근 차단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· CloudFront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사진은 Private + OAC 전용 경로로 제공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Prometheus · Grafana, Elasticsearch · Kibana 전용 노드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Bedrock AgentCore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 실행 전환 대상</a:t>
            </a:r>
            <a:endParaRPr lang="en-US" sz="1148" dirty="0"/>
          </a:p>
        </p:txBody>
      </p:sp>
      <p:sp>
        <p:nvSpPr>
          <p:cNvPr id="10" name="Shape 7"/>
          <p:cNvSpPr/>
          <p:nvPr/>
        </p:nvSpPr>
        <p:spPr>
          <a:xfrm>
            <a:off x="7126194" y="4306184"/>
            <a:ext cx="4532315" cy="11334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6754" y="4496653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6754" y="4791913"/>
            <a:ext cx="4151285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외부에 노출되는 경계는 ALB와 CloudFront로 한정하고, 데이터 계층과 AI 실행 계층은 각각 별도 경계 뒤에 둡니다.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4350" y="6219840"/>
            <a:ext cx="85907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시스템 구성</a:t>
            </a:r>
            <a:endParaRPr lang="en-US" sz="938" dirty="0"/>
          </a:p>
        </p:txBody>
      </p:sp>
      <p:sp>
        <p:nvSpPr>
          <p:cNvPr id="15" name="Text 12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51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로그 수집 구성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 · 안정성 · 체감 성능을 분리해 수집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 현황과 사용자 경험을 체계적으로 파악하기 위해 로그를 세 영역으로 구분했습니다.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38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메트릭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27057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Analytics (GA4)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3930" y="2650937"/>
            <a:ext cx="32131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온보딩, 타임라인 초안 생성, 이벤트 · 메모 편집 등 주요 행동을 이벤트와 구간화 파라미터로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단계별 이탈률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전환율 · 기능별 이용률</a:t>
            </a:r>
            <a:endParaRPr lang="en-US" sz="1148" dirty="0"/>
          </a:p>
        </p:txBody>
      </p:sp>
      <p:sp>
        <p:nvSpPr>
          <p:cNvPr id="10" name="Shape 8"/>
          <p:cNvSpPr/>
          <p:nvPr/>
        </p:nvSpPr>
        <p:spPr>
          <a:xfrm>
            <a:off x="429896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430" y="1733245"/>
            <a:ext cx="32131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38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 로그</a:t>
            </a:r>
            <a:endParaRPr lang="en-US" sz="1463" dirty="0"/>
          </a:p>
        </p:txBody>
      </p:sp>
      <p:sp>
        <p:nvSpPr>
          <p:cNvPr id="13" name="Text 11"/>
          <p:cNvSpPr txBox="1"/>
          <p:nvPr/>
        </p:nvSpPr>
        <p:spPr>
          <a:xfrm>
            <a:off x="4489430" y="2327057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Crashlytics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9430" y="2650937"/>
            <a:ext cx="32131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치명적 오류뿐 아니라 주요 기능의 non-fatal 오류도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태그와 상태값을 함께 기록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빈도와 재현 조건을 파악해 앱 안정성 개선</a:t>
            </a:r>
            <a:endParaRPr lang="en-US" sz="1148" dirty="0"/>
          </a:p>
        </p:txBody>
      </p:sp>
      <p:sp>
        <p:nvSpPr>
          <p:cNvPr id="15" name="Shape 13"/>
          <p:cNvSpPr/>
          <p:nvPr/>
        </p:nvSpPr>
        <p:spPr>
          <a:xfrm>
            <a:off x="8064459" y="1542776"/>
            <a:ext cx="3594141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4929" y="1733245"/>
            <a:ext cx="321320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8254929" y="1990466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퍼포먼스 로그</a:t>
            </a:r>
            <a:endParaRPr lang="en-US" sz="1463" dirty="0"/>
          </a:p>
        </p:txBody>
      </p:sp>
      <p:sp>
        <p:nvSpPr>
          <p:cNvPr id="18" name="Text 16"/>
          <p:cNvSpPr txBox="1"/>
          <p:nvPr/>
        </p:nvSpPr>
        <p:spPr>
          <a:xfrm>
            <a:off x="8254929" y="2327057"/>
            <a:ext cx="321320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Performance Monitoring · Android Vitals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54929" y="2879537"/>
            <a:ext cx="3213202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및 화면 진입 시간, 네트워크 응답 시간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프레임 · 멈춘 프레임 비율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배터리 사용량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· Android 버전별 성능 문제 개선</a:t>
            </a:r>
            <a:endParaRPr lang="en-US" sz="1148" dirty="0"/>
          </a:p>
        </p:txBody>
      </p:sp>
      <p:sp>
        <p:nvSpPr>
          <p:cNvPr id="20" name="Shape 18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4350" y="6219840"/>
            <a:ext cx="85907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시스템 구성</a:t>
            </a:r>
            <a:endParaRPr lang="en-US" sz="938" dirty="0"/>
          </a:p>
        </p:txBody>
      </p:sp>
      <p:sp>
        <p:nvSpPr>
          <p:cNvPr id="22" name="Text 20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51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및 역할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369팀 · 3인 역할 분담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백엔드 · 인프라 · 모바일 · 배포를 세 명이 나누어 담당하며, 서버와 AI는 공동으로 인터페이스를 정의합니다.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이동건</a:t>
            </a:r>
            <a:endParaRPr lang="en-US" sz="1463" dirty="0"/>
          </a:p>
        </p:txBody>
      </p:sp>
      <p:sp>
        <p:nvSpPr>
          <p:cNvPr id="7" name="Shape 5"/>
          <p:cNvSpPr/>
          <p:nvPr/>
        </p:nvSpPr>
        <p:spPr>
          <a:xfrm>
            <a:off x="742950" y="2069836"/>
            <a:ext cx="407182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610" y="2069836"/>
            <a:ext cx="27386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1207282" y="2069836"/>
            <a:ext cx="289773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73942" y="2069836"/>
            <a:ext cx="15636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1554206" y="2069836"/>
            <a:ext cx="638343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20865" y="2069836"/>
            <a:ext cx="50502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938" dirty="0"/>
          </a:p>
        </p:txBody>
      </p:sp>
      <p:sp>
        <p:nvSpPr>
          <p:cNvPr id="13" name="Text 11"/>
          <p:cNvSpPr txBox="1"/>
          <p:nvPr/>
        </p:nvSpPr>
        <p:spPr>
          <a:xfrm>
            <a:off x="723930" y="2422337"/>
            <a:ext cx="3213110" cy="12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Server · LangGraph 멀티 에이전트 설계 및 구현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품질 기준과 Evaluation System 구축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기능 개발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제품 통합 조율</a:t>
            </a:r>
            <a:endParaRPr lang="en-US" sz="1148" dirty="0"/>
          </a:p>
        </p:txBody>
      </p:sp>
      <p:sp>
        <p:nvSpPr>
          <p:cNvPr id="14" name="Shape 12"/>
          <p:cNvSpPr/>
          <p:nvPr/>
        </p:nvSpPr>
        <p:spPr>
          <a:xfrm>
            <a:off x="429896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94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정수현</a:t>
            </a:r>
            <a:endParaRPr lang="en-US" sz="1463" dirty="0"/>
          </a:p>
        </p:txBody>
      </p:sp>
      <p:sp>
        <p:nvSpPr>
          <p:cNvPr id="16" name="Shape 14"/>
          <p:cNvSpPr/>
          <p:nvPr/>
        </p:nvSpPr>
        <p:spPr>
          <a:xfrm>
            <a:off x="4508449" y="2069836"/>
            <a:ext cx="430774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5109" y="2069836"/>
            <a:ext cx="2974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</a:t>
            </a:r>
            <a:endParaRPr lang="en-US" sz="938" dirty="0"/>
          </a:p>
        </p:txBody>
      </p:sp>
      <p:sp>
        <p:nvSpPr>
          <p:cNvPr id="18" name="Shape 16"/>
          <p:cNvSpPr/>
          <p:nvPr/>
        </p:nvSpPr>
        <p:spPr>
          <a:xfrm>
            <a:off x="4996464" y="2069836"/>
            <a:ext cx="638343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63124" y="2069836"/>
            <a:ext cx="50502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938" dirty="0"/>
          </a:p>
        </p:txBody>
      </p:sp>
      <p:sp>
        <p:nvSpPr>
          <p:cNvPr id="20" name="Text 18"/>
          <p:cNvSpPr txBox="1"/>
          <p:nvPr/>
        </p:nvSpPr>
        <p:spPr>
          <a:xfrm>
            <a:off x="4489430" y="2422337"/>
            <a:ext cx="3213110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VPC · Subnet · 이중화 인프라 구축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Server 기능 개발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비식별화 구조 구현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 및 배포 · 운영 환경 구성</a:t>
            </a:r>
            <a:endParaRPr lang="en-US" sz="1148" dirty="0"/>
          </a:p>
        </p:txBody>
      </p:sp>
      <p:sp>
        <p:nvSpPr>
          <p:cNvPr id="21" name="Shape 19"/>
          <p:cNvSpPr/>
          <p:nvPr/>
        </p:nvSpPr>
        <p:spPr>
          <a:xfrm>
            <a:off x="8064459" y="1542776"/>
            <a:ext cx="3594141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54929" y="1733245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전형선</a:t>
            </a:r>
            <a:endParaRPr lang="en-US" sz="1463" dirty="0"/>
          </a:p>
        </p:txBody>
      </p:sp>
      <p:sp>
        <p:nvSpPr>
          <p:cNvPr id="23" name="Shape 21"/>
          <p:cNvSpPr/>
          <p:nvPr/>
        </p:nvSpPr>
        <p:spPr>
          <a:xfrm>
            <a:off x="8273948" y="2069836"/>
            <a:ext cx="621243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40700" y="2069836"/>
            <a:ext cx="48783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8952342" y="2069836"/>
            <a:ext cx="407182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19002" y="2069836"/>
            <a:ext cx="27386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938" dirty="0"/>
          </a:p>
        </p:txBody>
      </p:sp>
      <p:sp>
        <p:nvSpPr>
          <p:cNvPr id="27" name="Text 25"/>
          <p:cNvSpPr txBox="1"/>
          <p:nvPr/>
        </p:nvSpPr>
        <p:spPr>
          <a:xfrm>
            <a:off x="8254929" y="2422337"/>
            <a:ext cx="3213202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애플리케이션 개발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데이터 수집 및 권한 처리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로그 · 지표 계측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Play Store 배포</a:t>
            </a:r>
            <a:endParaRPr lang="en-US" sz="1148" dirty="0"/>
          </a:p>
        </p:txBody>
      </p:sp>
      <p:sp>
        <p:nvSpPr>
          <p:cNvPr id="28" name="Shape 26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4350" y="6219840"/>
            <a:ext cx="104269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팀 · 멘토 · 일정</a:t>
            </a:r>
            <a:endParaRPr lang="en-US" sz="938" dirty="0"/>
          </a:p>
        </p:txBody>
      </p:sp>
      <p:sp>
        <p:nvSpPr>
          <p:cNvPr id="30" name="Text 28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51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구성 및 역할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AI, 백엔드 · DB, 모바일 · UX 3인 멘토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멘토의 검토 영역과, 이번 중간점검에서 지적받은 보완 사항을 함께 정리했습니다.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이상호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69836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및 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93716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 방향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응답 품질 평가 및 개선 방향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비용 최적화 및 캐싱 전략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742950" y="4883902"/>
            <a:ext cx="3174980" cy="869137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6760" y="5007803"/>
            <a:ext cx="2927360" cy="716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spc="-11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지적</a:t>
            </a:r>
            <a:pPr algn="l" indent="0" marL="0">
              <a:lnSpc>
                <a:spcPct val="150000"/>
              </a:lnSpc>
              <a:buNone/>
            </a:pPr>
            <a:r>
              <a:rPr lang="en-US" sz="1088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MVP에서 우선 검증할 핵심 가치와 확장 기능을 구분하고, 각 지표의 정량적 목표 수준과 검증 결과를 도출할 것</a:t>
            </a:r>
            <a:endParaRPr lang="en-US" sz="1088" dirty="0"/>
          </a:p>
        </p:txBody>
      </p:sp>
      <p:sp>
        <p:nvSpPr>
          <p:cNvPr id="11" name="Shape 9"/>
          <p:cNvSpPr/>
          <p:nvPr/>
        </p:nvSpPr>
        <p:spPr>
          <a:xfrm>
            <a:off x="4298960" y="1542776"/>
            <a:ext cx="3594049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9430" y="1733245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박정두</a:t>
            </a:r>
            <a:endParaRPr lang="en-US" sz="1463" dirty="0"/>
          </a:p>
        </p:txBody>
      </p:sp>
      <p:sp>
        <p:nvSpPr>
          <p:cNvPr id="13" name="Text 11"/>
          <p:cNvSpPr txBox="1"/>
          <p:nvPr/>
        </p:nvSpPr>
        <p:spPr>
          <a:xfrm>
            <a:off x="4489430" y="2069836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및 DB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9430" y="2393716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개발 설계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아키텍처 설계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시스템 아키텍처 설계</a:t>
            </a:r>
            <a:endParaRPr lang="en-US" sz="1148" dirty="0"/>
          </a:p>
        </p:txBody>
      </p:sp>
      <p:sp>
        <p:nvSpPr>
          <p:cNvPr id="15" name="Shape 13"/>
          <p:cNvSpPr/>
          <p:nvPr/>
        </p:nvSpPr>
        <p:spPr>
          <a:xfrm>
            <a:off x="4508449" y="4676790"/>
            <a:ext cx="3174980" cy="10763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2259" y="4800600"/>
            <a:ext cx="2927360" cy="923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spc="-11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지적</a:t>
            </a:r>
            <a:pPr algn="l" indent="0" marL="0">
              <a:lnSpc>
                <a:spcPct val="150000"/>
              </a:lnSpc>
              <a:buNone/>
            </a:pPr>
            <a:r>
              <a:rPr lang="en-US" sz="1088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범위를 넓히기보다, AI 처리 실패 · callback 유실 · 중복 요청 · 서버 재시작에서의 정합성과 재처리를 사용자 시나리오 기준으로 검증할 것</a:t>
            </a:r>
            <a:endParaRPr lang="en-US" sz="1088" dirty="0"/>
          </a:p>
        </p:txBody>
      </p:sp>
      <p:sp>
        <p:nvSpPr>
          <p:cNvPr id="17" name="Shape 15"/>
          <p:cNvSpPr/>
          <p:nvPr/>
        </p:nvSpPr>
        <p:spPr>
          <a:xfrm>
            <a:off x="8064459" y="1542776"/>
            <a:ext cx="3594141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4929" y="1733245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김종찬</a:t>
            </a:r>
            <a:endParaRPr lang="en-US" sz="1463" dirty="0"/>
          </a:p>
        </p:txBody>
      </p:sp>
      <p:sp>
        <p:nvSpPr>
          <p:cNvPr id="19" name="Text 17"/>
          <p:cNvSpPr txBox="1"/>
          <p:nvPr/>
        </p:nvSpPr>
        <p:spPr>
          <a:xfrm>
            <a:off x="8254929" y="2069836"/>
            <a:ext cx="321320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및 UX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54929" y="2393716"/>
            <a:ext cx="3213202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설계 검토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기반 클라이언트 안정성 가이드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퍼포먼스 가이드</a:t>
            </a:r>
            <a:endParaRPr lang="en-US" sz="1148" dirty="0"/>
          </a:p>
        </p:txBody>
      </p:sp>
      <p:sp>
        <p:nvSpPr>
          <p:cNvPr id="21" name="Shape 19"/>
          <p:cNvSpPr/>
          <p:nvPr/>
        </p:nvSpPr>
        <p:spPr>
          <a:xfrm>
            <a:off x="8273948" y="4883902"/>
            <a:ext cx="3175071" cy="869137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97850" y="5007803"/>
            <a:ext cx="2927452" cy="716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spc="-11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지적</a:t>
            </a:r>
            <a:pPr algn="l" indent="0" marL="0">
              <a:lnSpc>
                <a:spcPct val="150000"/>
              </a:lnSpc>
              <a:buNone/>
            </a:pPr>
            <a:r>
              <a:rPr lang="en-US" sz="1088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나의 지난 하루의 기록에 관심을 갖게 하는 시장을 발굴하고, 시장 규모를 넓혀가기 위한 전략을 함께 준비할 것</a:t>
            </a:r>
            <a:endParaRPr lang="en-US" sz="1088" dirty="0"/>
          </a:p>
        </p:txBody>
      </p:sp>
      <p:sp>
        <p:nvSpPr>
          <p:cNvPr id="23" name="Shape 2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4350" y="6219840"/>
            <a:ext cx="104269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팀 · 멘토 · 일정</a:t>
            </a:r>
            <a:endParaRPr lang="en-US" sz="938" dirty="0"/>
          </a:p>
        </p:txBody>
      </p:sp>
      <p:sp>
        <p:nvSpPr>
          <p:cNvPr id="25" name="Text 2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51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일정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알파 · 베타, 9월 최초 배포, 11월까지 주기 배포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8월 알파 테스트 단계이며, 8월 24일부터 30일까지 1주간 베타 테스트를 진행합니다.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1200882" y="2038106"/>
            <a:ext cx="9790206" cy="190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6691" y="2768255"/>
            <a:ext cx="3089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53094" y="3215945"/>
            <a:ext cx="76170" cy="7617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4350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기획 · 구체화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요구사항 분석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· 경쟁 서비스 조사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738262" y="2768255"/>
            <a:ext cx="3089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54665" y="3215945"/>
            <a:ext cx="76170" cy="7617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15922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 설계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API 명세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· 메트릭 설계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39834" y="2768255"/>
            <a:ext cx="3089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56146" y="3215945"/>
            <a:ext cx="76170" cy="7617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17402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핵심 기능 개발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· AI 통합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1405" y="2768255"/>
            <a:ext cx="3089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8698" y="3196834"/>
            <a:ext cx="114300" cy="114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18973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테스트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8/24~8/30 베타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542977" y="2768255"/>
            <a:ext cx="3089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59380" y="3215945"/>
            <a:ext cx="76170" cy="7617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20454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Store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배포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 시작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094714" y="2768255"/>
            <a:ext cx="40846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60860" y="3215945"/>
            <a:ext cx="76170" cy="7617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22025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단위 주기 배포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기반 개선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피드백 반영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696285" y="2768255"/>
            <a:ext cx="40846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862432" y="3215945"/>
            <a:ext cx="76170" cy="7617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23505" y="3492185"/>
            <a:ext cx="1553931" cy="6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경험 개선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spc="-16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· 사용자 유치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이후에는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스프린트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 사용자 피드백 · 운영 지표 · 멘토 의견을 반영하고, 단계 종료 시 게이트 리뷰로 범위를 통제합니다.</a:t>
            </a:r>
            <a:endParaRPr lang="en-US" sz="1238" dirty="0"/>
          </a:p>
        </p:txBody>
      </p:sp>
      <p:sp>
        <p:nvSpPr>
          <p:cNvPr id="29" name="Shape 27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4350" y="6219840"/>
            <a:ext cx="104269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팀 · 멘토 · 일정</a:t>
            </a:r>
            <a:endParaRPr lang="en-US" sz="938" dirty="0"/>
          </a:p>
        </p:txBody>
      </p:sp>
      <p:sp>
        <p:nvSpPr>
          <p:cNvPr id="31" name="Text 29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51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진행현황 · 개요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핵심 흐름 구현 완료, App Tester 알파 테스트 진행 중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로그인부터 월별 기록 조회까지 하루 타임라인의 전체 사용자 흐름이 실제 기기에서 동작합니다.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141250" cy="9972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678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678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238" dirty="0"/>
          </a:p>
        </p:txBody>
      </p:sp>
      <p:sp>
        <p:nvSpPr>
          <p:cNvPr id="8" name="Text 6"/>
          <p:cNvSpPr txBox="1"/>
          <p:nvPr/>
        </p:nvSpPr>
        <p:spPr>
          <a:xfrm>
            <a:off x="666780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Kakao OAuth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410" y="1542776"/>
            <a:ext cx="2141342" cy="9972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2730" y="1704716"/>
            <a:ext cx="187461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12730" y="1923806"/>
            <a:ext cx="1874611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수집</a:t>
            </a:r>
            <a:endParaRPr lang="en-US" sz="1238" dirty="0"/>
          </a:p>
        </p:txBody>
      </p:sp>
      <p:sp>
        <p:nvSpPr>
          <p:cNvPr id="12" name="Text 10"/>
          <p:cNvSpPr txBox="1"/>
          <p:nvPr/>
        </p:nvSpPr>
        <p:spPr>
          <a:xfrm>
            <a:off x="2912730" y="2191542"/>
            <a:ext cx="1874611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· 일정 · 건강 · 알림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5451" y="1542776"/>
            <a:ext cx="2141250" cy="9972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8862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58862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타임라인 생성</a:t>
            </a:r>
            <a:endParaRPr lang="en-US" sz="1238" dirty="0"/>
          </a:p>
        </p:txBody>
      </p:sp>
      <p:sp>
        <p:nvSpPr>
          <p:cNvPr id="16" name="Text 14"/>
          <p:cNvSpPr txBox="1"/>
          <p:nvPr/>
        </p:nvSpPr>
        <p:spPr>
          <a:xfrm>
            <a:off x="5158862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요청 · 약 40초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71492" y="1542776"/>
            <a:ext cx="2141250" cy="9972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4811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04811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확정</a:t>
            </a:r>
            <a:endParaRPr lang="en-US" sz="1238" dirty="0"/>
          </a:p>
        </p:txBody>
      </p:sp>
      <p:sp>
        <p:nvSpPr>
          <p:cNvPr id="20" name="Text 18"/>
          <p:cNvSpPr txBox="1"/>
          <p:nvPr/>
        </p:nvSpPr>
        <p:spPr>
          <a:xfrm>
            <a:off x="7404811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· 시간 · 메모 · 사진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17350" y="1542776"/>
            <a:ext cx="2141250" cy="9972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076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5076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조회</a:t>
            </a:r>
            <a:endParaRPr lang="en-US" sz="1238" dirty="0"/>
          </a:p>
        </p:txBody>
      </p:sp>
      <p:sp>
        <p:nvSpPr>
          <p:cNvPr id="24" name="Text 22"/>
          <p:cNvSpPr txBox="1"/>
          <p:nvPr/>
        </p:nvSpPr>
        <p:spPr>
          <a:xfrm>
            <a:off x="9650760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누적 확인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370" y="2711470"/>
            <a:ext cx="4532315" cy="323213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1601846" y="4122664"/>
            <a:ext cx="23953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Tester 설치 화면 · 앱 실행 캡처</a:t>
            </a:r>
            <a:endParaRPr lang="en-US" sz="1125" dirty="0"/>
          </a:p>
        </p:txBody>
      </p:sp>
      <p:sp>
        <p:nvSpPr>
          <p:cNvPr id="27" name="Text 25"/>
          <p:cNvSpPr txBox="1"/>
          <p:nvPr/>
        </p:nvSpPr>
        <p:spPr>
          <a:xfrm>
            <a:off x="1721175" y="4370375"/>
            <a:ext cx="215661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 실제 기기 스크린샷 삽입 예정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5313304" y="2711470"/>
            <a:ext cx="3086832" cy="1530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03865" y="2901940"/>
            <a:ext cx="270589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2325" dirty="0"/>
          </a:p>
        </p:txBody>
      </p:sp>
      <p:sp>
        <p:nvSpPr>
          <p:cNvPr id="30" name="Text 28"/>
          <p:cNvSpPr txBox="1"/>
          <p:nvPr/>
        </p:nvSpPr>
        <p:spPr>
          <a:xfrm>
            <a:off x="5503865" y="3282970"/>
            <a:ext cx="270589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생활 데이터</a:t>
            </a:r>
            <a:endParaRPr lang="en-US" sz="1163" dirty="0"/>
          </a:p>
        </p:txBody>
      </p:sp>
      <p:sp>
        <p:nvSpPr>
          <p:cNvPr id="31" name="Text 29"/>
          <p:cNvSpPr txBox="1"/>
          <p:nvPr/>
        </p:nvSpPr>
        <p:spPr>
          <a:xfrm>
            <a:off x="5503865" y="3540191"/>
            <a:ext cx="270589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· 일정 · 건강 · 알림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71677" y="2711470"/>
            <a:ext cx="3086832" cy="1530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62147" y="2901940"/>
            <a:ext cx="270589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40초</a:t>
            </a:r>
            <a:endParaRPr lang="en-US" sz="2325" dirty="0"/>
          </a:p>
        </p:txBody>
      </p:sp>
      <p:sp>
        <p:nvSpPr>
          <p:cNvPr id="34" name="Text 32"/>
          <p:cNvSpPr txBox="1"/>
          <p:nvPr/>
        </p:nvSpPr>
        <p:spPr>
          <a:xfrm>
            <a:off x="8762147" y="3282970"/>
            <a:ext cx="270589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생성 시간</a:t>
            </a:r>
            <a:endParaRPr lang="en-US" sz="1163" dirty="0"/>
          </a:p>
        </p:txBody>
      </p:sp>
      <p:sp>
        <p:nvSpPr>
          <p:cNvPr id="35" name="Text 33"/>
          <p:cNvSpPr txBox="1"/>
          <p:nvPr/>
        </p:nvSpPr>
        <p:spPr>
          <a:xfrm>
            <a:off x="8762147" y="3540191"/>
            <a:ext cx="270589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처리 · FCM 완료 알림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13304" y="4413260"/>
            <a:ext cx="3086832" cy="15303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03865" y="4603730"/>
            <a:ext cx="270589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2325" dirty="0"/>
          </a:p>
        </p:txBody>
      </p:sp>
      <p:sp>
        <p:nvSpPr>
          <p:cNvPr id="38" name="Text 36"/>
          <p:cNvSpPr txBox="1"/>
          <p:nvPr/>
        </p:nvSpPr>
        <p:spPr>
          <a:xfrm>
            <a:off x="5503865" y="4984760"/>
            <a:ext cx="270589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Event Agent</a:t>
            </a:r>
            <a:endParaRPr lang="en-US" sz="1163" dirty="0"/>
          </a:p>
        </p:txBody>
      </p:sp>
      <p:sp>
        <p:nvSpPr>
          <p:cNvPr id="39" name="Text 37"/>
          <p:cNvSpPr txBox="1"/>
          <p:nvPr/>
        </p:nvSpPr>
        <p:spPr>
          <a:xfrm>
            <a:off x="5503865" y="5241889"/>
            <a:ext cx="270589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전용 프롬프트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71677" y="4413260"/>
            <a:ext cx="3086832" cy="153034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62147" y="4603730"/>
            <a:ext cx="270589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</a:t>
            </a:r>
            <a:endParaRPr lang="en-US" sz="2325" dirty="0"/>
          </a:p>
        </p:txBody>
      </p:sp>
      <p:sp>
        <p:nvSpPr>
          <p:cNvPr id="42" name="Text 40"/>
          <p:cNvSpPr txBox="1"/>
          <p:nvPr/>
        </p:nvSpPr>
        <p:spPr>
          <a:xfrm>
            <a:off x="8762147" y="4984760"/>
            <a:ext cx="270589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단계</a:t>
            </a:r>
            <a:endParaRPr lang="en-US" sz="1163" dirty="0"/>
          </a:p>
        </p:txBody>
      </p:sp>
      <p:sp>
        <p:nvSpPr>
          <p:cNvPr id="43" name="Text 41"/>
          <p:cNvSpPr txBox="1"/>
          <p:nvPr/>
        </p:nvSpPr>
        <p:spPr>
          <a:xfrm>
            <a:off x="8762147" y="5241889"/>
            <a:ext cx="270589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8/24 베타 · 9월 정식 배포 예정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4350" y="6219840"/>
            <a:ext cx="97923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</a:t>
            </a:r>
            <a:endParaRPr lang="en-US" sz="938" dirty="0"/>
          </a:p>
        </p:txBody>
      </p:sp>
      <p:sp>
        <p:nvSpPr>
          <p:cNvPr id="46" name="Text 44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51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1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데이터 수집 및 통합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· 위치 · 일정 · 건강 · 알림은 접근 방법과 권한 체계가 모두 달라, 하나의 흐름으로 모으는 것이 첫 과제였습니다.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350699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접근 방법과 권한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27057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제공 API와 권한 요구가 상이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거부 · 회수 시 기능 전체가 중단될 위험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달라 AI 입력으로 바로 사용 불가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350699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구조로 정규화 후 로컬 저장</a:t>
            </a:r>
            <a:endParaRPr lang="en-US" sz="1463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2327057"/>
            <a:ext cx="32131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MediaStore · Calendar Provider · Health Connect 등 Android 제공 기능으로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형식을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구조로 변환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Room Database에 저장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 기간이 지난 원본은 WorkManager로 정리</a:t>
            </a:r>
            <a:endParaRPr lang="en-US" sz="1148" dirty="0"/>
          </a:p>
        </p:txBody>
      </p:sp>
      <p:sp>
        <p:nvSpPr>
          <p:cNvPr id="13" name="Shape 11"/>
          <p:cNvSpPr/>
          <p:nvPr/>
        </p:nvSpPr>
        <p:spPr>
          <a:xfrm>
            <a:off x="8064459" y="1542776"/>
            <a:ext cx="3594141" cy="3506998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4929" y="173324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54929" y="1990466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권한으로도 동작</a:t>
            </a:r>
            <a:endParaRPr lang="en-US" sz="1463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327057"/>
            <a:ext cx="32132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거부 · 회수되어도 앱 전체가 중단되지 않고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기능만 제한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선택한 데이터만 AI 타임라인 생성에 활용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생성에 동의한 데이터만 서버로 전송</a:t>
            </a:r>
            <a:endParaRPr lang="en-US" sz="1148" dirty="0"/>
          </a:p>
        </p:txBody>
      </p:sp>
      <p:sp>
        <p:nvSpPr>
          <p:cNvPr id="17" name="Shape 15"/>
          <p:cNvSpPr/>
          <p:nvPr/>
        </p:nvSpPr>
        <p:spPr>
          <a:xfrm>
            <a:off x="8273948" y="4621195"/>
            <a:ext cx="683697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0700" y="4621195"/>
            <a:ext cx="5503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기술 — Kotlin · Jetpack Compose, 기능별 · 공통 모듈 분리,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 Architecture + MVI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화면 · 비즈니스 로직 · 데이터 처리 책임 분리, Hilt와 Navigation 3로 공통 객체와 화면 이동 관리</a:t>
            </a:r>
            <a:endParaRPr lang="en-US" sz="1238" dirty="0"/>
          </a:p>
        </p:txBody>
      </p:sp>
      <p:sp>
        <p:nvSpPr>
          <p:cNvPr id="21" name="Shape 19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4350" y="6219840"/>
            <a:ext cx="145343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모바일</a:t>
            </a:r>
            <a:endParaRPr lang="en-US" sz="938" dirty="0"/>
          </a:p>
        </p:txBody>
      </p:sp>
      <p:sp>
        <p:nvSpPr>
          <p:cNvPr id="23" name="Text 21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51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2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위치 수집 안정화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Android의 백그라운드 실행 제한으로 위치 데이터가 누락되거나 배터리 사용량이 증가할 수 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09485"/>
            <a:ext cx="5095860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실행 제한으로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데이터 누락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발생 가능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수집 시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소모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인한 사용자 이탈 위험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앱이나 기기가 재시작되면 진행 중이던 수집 상태가 사라짐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버전 · 제조사마다 동작이 다름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3734867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09485"/>
            <a:ext cx="5095860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수집 상태를 사용자에게 알리는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Foreground Service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수집된 좌표를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체류와 이동 구간으로 변환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필요한 데이터만 저장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기기 재시작 시 진행 중이던 위치 기록을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배치 처리로 백그라운드 실행 자체를 최소화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91290" y="4848972"/>
            <a:ext cx="683697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7950" y="4848972"/>
            <a:ext cx="5503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검증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베타 테스트에서 Android 버전과 제조사별 데이터 누락 및 배터리 소모를 실제 기기로 추가 검증할 예정입니다.</a:t>
            </a:r>
            <a:endParaRPr lang="en-US" sz="1238" dirty="0"/>
          </a:p>
        </p:txBody>
      </p:sp>
      <p:sp>
        <p:nvSpPr>
          <p:cNvPr id="15" name="Shape 1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4350" y="6219840"/>
            <a:ext cx="145343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모바일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51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3 / 3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타임라인 생성 상태 관리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생성에 약 40초가 걸리므로, 사용자가 화면을 기다리지 않도록 비동기 방식으로 구현했습니다.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141250" cy="118396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678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678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요청</a:t>
            </a:r>
            <a:endParaRPr lang="en-US" sz="1238" dirty="0"/>
          </a:p>
        </p:txBody>
      </p:sp>
      <p:sp>
        <p:nvSpPr>
          <p:cNvPr id="8" name="Text 6"/>
          <p:cNvSpPr txBox="1"/>
          <p:nvPr/>
        </p:nvSpPr>
        <p:spPr>
          <a:xfrm>
            <a:off x="666780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동의한 데이터만 서버로 전송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410" y="1542776"/>
            <a:ext cx="2141342" cy="118396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2730" y="1704716"/>
            <a:ext cx="187461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12730" y="1923806"/>
            <a:ext cx="1874611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taskId 저장</a:t>
            </a:r>
            <a:endParaRPr lang="en-US" sz="1238" dirty="0"/>
          </a:p>
        </p:txBody>
      </p:sp>
      <p:sp>
        <p:nvSpPr>
          <p:cNvPr id="12" name="Text 10"/>
          <p:cNvSpPr txBox="1"/>
          <p:nvPr/>
        </p:nvSpPr>
        <p:spPr>
          <a:xfrm>
            <a:off x="2912730" y="2191542"/>
            <a:ext cx="1874611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발급받은 작업 식별자를 앱에 보관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5451" y="1542776"/>
            <a:ext cx="2141250" cy="118396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8862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58862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확인</a:t>
            </a:r>
            <a:endParaRPr lang="en-US" sz="1238" dirty="0"/>
          </a:p>
        </p:txBody>
      </p:sp>
      <p:sp>
        <p:nvSpPr>
          <p:cNvPr id="16" name="Text 14"/>
          <p:cNvSpPr txBox="1"/>
          <p:nvPr/>
        </p:nvSpPr>
        <p:spPr>
          <a:xfrm>
            <a:off x="5158862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사용 중에는 주기적 폴링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71492" y="1542776"/>
            <a:ext cx="2141250" cy="118396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4811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04811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FCM 알림</a:t>
            </a:r>
            <a:endParaRPr lang="en-US" sz="1238" dirty="0"/>
          </a:p>
        </p:txBody>
      </p:sp>
      <p:sp>
        <p:nvSpPr>
          <p:cNvPr id="20" name="Text 18"/>
          <p:cNvSpPr txBox="1"/>
          <p:nvPr/>
        </p:nvSpPr>
        <p:spPr>
          <a:xfrm>
            <a:off x="7404811" y="2191542"/>
            <a:ext cx="1874520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백그라운드에서는 완료 알림 수신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17350" y="1542776"/>
            <a:ext cx="2141250" cy="118396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076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5076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확정</a:t>
            </a:r>
            <a:endParaRPr lang="en-US" sz="1238" dirty="0"/>
          </a:p>
        </p:txBody>
      </p:sp>
      <p:sp>
        <p:nvSpPr>
          <p:cNvPr id="24" name="Text 22"/>
          <p:cNvSpPr txBox="1"/>
          <p:nvPr/>
        </p:nvSpPr>
        <p:spPr>
          <a:xfrm>
            <a:off x="9650760" y="2191542"/>
            <a:ext cx="1874520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· 시간 · 메모 · 사진 수정 후 하루 기록 확정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370" y="2898191"/>
            <a:ext cx="5476890" cy="3045409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3930" y="308866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범위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3930" y="3364901"/>
            <a:ext cx="5095860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권한 설정과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타임라인 생성 · 편집 · 확정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기록 조회</a:t>
            </a:r>
            <a:endParaRPr lang="en-US" sz="1148" dirty="0"/>
          </a:p>
        </p:txBody>
      </p:sp>
      <p:sp>
        <p:nvSpPr>
          <p:cNvPr id="28" name="Shape 26"/>
          <p:cNvSpPr/>
          <p:nvPr/>
        </p:nvSpPr>
        <p:spPr>
          <a:xfrm>
            <a:off x="742950" y="5515021"/>
            <a:ext cx="1236452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9610" y="5515021"/>
            <a:ext cx="110313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테스트 진행 중</a:t>
            </a:r>
            <a:endParaRPr lang="en-US" sz="938" dirty="0"/>
          </a:p>
        </p:txBody>
      </p:sp>
      <p:sp>
        <p:nvSpPr>
          <p:cNvPr id="30" name="Shape 28"/>
          <p:cNvSpPr/>
          <p:nvPr/>
        </p:nvSpPr>
        <p:spPr>
          <a:xfrm>
            <a:off x="6181710" y="2898191"/>
            <a:ext cx="5476890" cy="3045409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2271" y="308866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배포 전 집중 검증 항목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72271" y="3364901"/>
            <a:ext cx="5095860" cy="133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거부 · 회수 상황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단절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지연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미수신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재실행 후 작업 연속성</a:t>
            </a:r>
            <a:endParaRPr lang="en-US" sz="1148" dirty="0"/>
          </a:p>
        </p:txBody>
      </p:sp>
      <p:sp>
        <p:nvSpPr>
          <p:cNvPr id="33" name="Shape 31"/>
          <p:cNvSpPr/>
          <p:nvPr/>
        </p:nvSpPr>
        <p:spPr>
          <a:xfrm>
            <a:off x="6391290" y="5515021"/>
            <a:ext cx="1236452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57950" y="5515021"/>
            <a:ext cx="110313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기기 검증 예정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4350" y="6219840"/>
            <a:ext cx="145343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모바일</a:t>
            </a:r>
            <a:endParaRPr lang="en-US" sz="938" dirty="0"/>
          </a:p>
        </p:txBody>
      </p:sp>
      <p:sp>
        <p:nvSpPr>
          <p:cNvPr id="37" name="Text 3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51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1 / 4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Server의 역할과 인프라 구성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수집된 생활 데이터를 검증 · 가공하여 AI가 사용할 수 있는 형태로 정리하고, 결과를 다시 검증해 저장합니다.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4532315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415128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Server가 담당하는 것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50816"/>
            <a:ext cx="4151285" cy="205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인증과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소유권 확인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(Google · Kakao OAuth 2.0 / OIDC, JWT)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 검증 · 가공, 민감정보 마스킹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데이터에 주소 · 주변 장소 정보 보강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생성 · 조회 · 편집 · 저장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taskId 기반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작업 상태 관리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사진 업로드와 FCM 완료 알림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결과 검증 후 저장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5313304" y="1542776"/>
            <a:ext cx="6345204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03865" y="1733245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03865" y="2028505"/>
            <a:ext cx="5964174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데이터는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작업 상태와 OAuth 세션은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사진은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S3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저장하고 CloudFront로 제공합니다.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13304" y="2847716"/>
            <a:ext cx="6345204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3865" y="3038185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경계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03865" y="3333445"/>
            <a:ext cx="5964174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VPC의 Public · Private Subnet을 분리하고, Public Load Balancer 뒤 Private Subnet의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2대로 API Server를 이중화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했습니다. MySQL과 Redis도 Private Subnet에 배치해 외부 직접 접근을 차단합니다.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13304" y="4381256"/>
            <a:ext cx="6345204" cy="11334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3865" y="4571726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03865" y="4866985"/>
            <a:ext cx="5964174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로그는 Elasticsearch, 지표는 Prometheus · Grafana, 분산 추적은 OpenTelemetry · Tempo로 관측합니다.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350" y="6219840"/>
            <a:ext cx="133319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서버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51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2 / 4 · 해결한 문제 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데이터 보강과 Geocoding 병렬 처리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좌표만으로는 사건을 추론할 수 없어 Kakao API로 주소와 주변 장소로 변환하며, 이때 응답 시간과 부분 실패가 문제가 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09485"/>
            <a:ext cx="3213110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데이터는 위도 · 경도 중심으로 구성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API로 좌표를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주변 장소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변환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 머문 시간, 회사로 이동한 구간, 식당 방문 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추론의 근거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됨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4298960" y="1542776"/>
            <a:ext cx="3594049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4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9430" y="2009485"/>
            <a:ext cx="3213110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하루에 동일 좌표가 반복되므로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요청에서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50개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고유 좌표 처리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서로 독립적이므로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4개씩 병렬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보강 완료 후 검증된 생활 데이터를 일괄 저장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8064459" y="1542776"/>
            <a:ext cx="3594141" cy="3734867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4929" y="173324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실패 허용 기준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54929" y="2009485"/>
            <a:ext cx="32132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좌표 실패율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이하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성공한 위치 정보만으로 생성 진행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실패율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초과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품질 부족으로 판단해 생성 중단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좌표 연속 실패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생성 중단</a:t>
            </a:r>
            <a:endParaRPr lang="en-US" sz="1148" dirty="0"/>
          </a:p>
        </p:txBody>
      </p:sp>
      <p:sp>
        <p:nvSpPr>
          <p:cNvPr id="14" name="Shape 12"/>
          <p:cNvSpPr/>
          <p:nvPr/>
        </p:nvSpPr>
        <p:spPr>
          <a:xfrm>
            <a:off x="8273948" y="4848972"/>
            <a:ext cx="683697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0700" y="4848972"/>
            <a:ext cx="5503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좌표 조회가 실패해도 하루 전체의 타임라인 생성을 즉시 중단하지 않되,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품질이 무너지는 지점은 명시적 기준으로 차단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했습니다.</a:t>
            </a:r>
            <a:endParaRPr lang="en-US" sz="1238" dirty="0"/>
          </a:p>
        </p:txBody>
      </p:sp>
      <p:sp>
        <p:nvSpPr>
          <p:cNvPr id="18" name="Shape 16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4350" y="6219840"/>
            <a:ext cx="133319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서버</a:t>
            </a:r>
            <a:endParaRPr lang="en-US" sz="938" dirty="0"/>
          </a:p>
        </p:txBody>
      </p:sp>
      <p:sp>
        <p:nvSpPr>
          <p:cNvPr id="20" name="Text 18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51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3 / 4 · 해결한 문제 ②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간 API 기반 AI 연동으로 구조 변경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구조에서는 AI 서버가 API Server와 같은 데이터베이스에 직접 접근했고, 이로 인해 스키마 변경이 AI 서버 로직 변경으로 이어졌습니다.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DB 직접 접근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09485"/>
            <a:ext cx="5095860" cy="133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서버가 동일 DB에서 생활 데이터를 조회하고 결과를 저장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전달 API가 필요 없다는 장점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AI 서버가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구조를 알아야 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바뀔 때마다 AI 서버 로직도 함께 변경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 · 소유권 확인 · 트랜잭션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책임이 두 서버에 분산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3734867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책임 분리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09485"/>
            <a:ext cx="5095860" cy="180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서버는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분석과 타임라인 생성만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담당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Server가 전처리된 데이터를 작업별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Item 공간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저장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서버에는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taskId와 작업 전용 토큰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전달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서버는 해당 작업의 source Items만 서버 간 API로 조회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결과도 서버 간 API로 반환 → API Server가 검증 후 Event · Item · 원본 연결 정보 저장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토큰은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저장 · Callback 단계마다 교체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6391290" y="4848972"/>
            <a:ext cx="960120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7950" y="4848972"/>
            <a:ext cx="8268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변경 완료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구조가 바뀌어도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서버는 그 사실을 알 필요가 없도록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경계를 정리했습니다.</a:t>
            </a:r>
            <a:endParaRPr lang="en-US" sz="1238" dirty="0"/>
          </a:p>
        </p:txBody>
      </p:sp>
      <p:sp>
        <p:nvSpPr>
          <p:cNvPr id="15" name="Shape 1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4350" y="6219840"/>
            <a:ext cx="133319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서버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51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4 / 4 · 해결한 문제 ③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보호를 위한 사용자 비식별화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데이터가 동일한 식별자로 연결되면 이동 경로 · 생활 습관 · 인간관계까지 추론될 수 있어, 사용자와 데이터 소유자를 분리했습니다.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1122152" cy="38898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8974" y="1662928"/>
            <a:ext cx="521757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spc="-2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영역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712671" y="1542776"/>
            <a:ext cx="103876" cy="38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3788" y="1542776"/>
            <a:ext cx="2277770" cy="38898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4078" y="1662928"/>
            <a:ext cx="1042690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spc="-2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기반 조회 키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08709" y="1542776"/>
            <a:ext cx="103876" cy="38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69826" y="1542776"/>
            <a:ext cx="1717975" cy="388986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7084" y="1662928"/>
            <a:ext cx="785835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spc="-2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ID 미저장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144859" y="1542776"/>
            <a:ext cx="103876" cy="38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5794" y="1542776"/>
            <a:ext cx="1296894" cy="388986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60997" y="1662928"/>
            <a:ext cx="436992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spc="-2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UUIDv4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659929" y="1542776"/>
            <a:ext cx="103876" cy="388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20863" y="1542776"/>
            <a:ext cx="2287554" cy="388986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8212" y="1662928"/>
            <a:ext cx="1355415" cy="24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spc="-2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사진 ·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3370" y="2103211"/>
            <a:ext cx="3594049" cy="2946471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" y="2293681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HMAC인가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3930" y="2589032"/>
            <a:ext cx="3213110" cy="100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SHA-256이 아닌 비밀키 기반 HMAC-SHA-256을 사용해,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비밀키를 모르면 동일한 조회 값을 만들 수 없도록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했습니다. 매핑 테이블만 노출되어도 사용자를 알 수 없습니다.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8960" y="2103211"/>
            <a:ext cx="3594049" cy="2946471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9430" y="2293681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 테이블에 저장하는 것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489430" y="2569921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 조회 키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 ID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버전</a:t>
            </a:r>
            <a:endParaRPr lang="en-US" sz="1148" dirty="0"/>
          </a:p>
        </p:txBody>
      </p:sp>
      <p:sp>
        <p:nvSpPr>
          <p:cNvPr id="25" name="Text 23"/>
          <p:cNvSpPr txBox="1"/>
          <p:nvPr/>
        </p:nvSpPr>
        <p:spPr>
          <a:xfrm>
            <a:off x="4489430" y="3389589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userId는 저장하지 않습니다.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4459" y="2103211"/>
            <a:ext cx="3594141" cy="2946471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54929" y="2293681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분리 관리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54929" y="2589032"/>
            <a:ext cx="3213202" cy="123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 비밀키는 코드나 DB가 아닌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Secrets Manager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별도 관리합니다. DB만 유출되면 조회 키를 계산할 수 없고, 비밀키만 유출되면 매핑과 콘텐츠가 없어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한쪽만으로는 관계를 복원하기 어렵습니다.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 — 타임라인, AI 입력 staging, User Memory, FCM 푸시 등록, Redis 작업 상태, S3 사진 저장. S3 경로에는 Subject ID를 그대로 노출하지 않고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SHA-256으로 변환한 namespace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사용합니다.</a:t>
            </a:r>
            <a:endParaRPr lang="en-US" sz="1238" dirty="0"/>
          </a:p>
        </p:txBody>
      </p:sp>
      <p:sp>
        <p:nvSpPr>
          <p:cNvPr id="31" name="Shape 29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4350" y="6219840"/>
            <a:ext cx="133319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서버</a:t>
            </a:r>
            <a:endParaRPr lang="en-US" sz="938" dirty="0"/>
          </a:p>
        </p:txBody>
      </p:sp>
      <p:sp>
        <p:nvSpPr>
          <p:cNvPr id="33" name="Text 31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51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1 / 9 · 입력 데이터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7종의 입력을 사건 추론의 근거로 사용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개별적으로 수집된 생활 데이터를 연결해 하루의 주요 사건을 타임라인으로 재구성하고, 각 사건에 회고 질문을 생성합니다.</a:t>
            </a:r>
            <a:endParaRPr lang="en-US" sz="1313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1780062"/>
                <a:gridCol w="4672493"/>
                <a:gridCol w="4672767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활용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 기반 체류 시간, 좌표, 장소명, 주소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장소에서 이루어진 활동 추론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MOVEMENT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 기반 출발 · 도착 위치, 이동 거리, 이동 수단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출근 · 귀가 · 장소 간 이동 구간 파악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CALENDAR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제목, 설명, 시간, 장소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· 수업 · 약속 등 명확한 사건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 Connect 걸음 수, 수면 시간과 구간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활동량과 취침 · 기상 시간 파악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NOTIFICATION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기기에 수신된 알림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일정이나 활동의 목적을 보강하는 단서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PHOTO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기기로 촬영한 사진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 LLM으로 사진 속 상황 분석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 Memory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축적된 일기에서 추론된 생활 맥락, 관계, 습관, 표현 선호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 표현과 회고 질문을 개인화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생성되는 타임라인은 시간순 event로 구성되며, 각 이벤트는 유형 · 제목 · 설명 · 시작 · 종료 시각과 함께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sourceRawIds로 수집 원본과 연결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 회고 질문을 포함합니다.</a:t>
            </a:r>
            <a:endParaRPr lang="en-US" sz="1238" dirty="0"/>
          </a:p>
        </p:txBody>
      </p:sp>
      <p:sp>
        <p:nvSpPr>
          <p:cNvPr id="8" name="Shape 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51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2 / 9 · 파이프라인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AI 타임라인 처리 파이프라인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고사양 모델에 전부 맡기지 않고, 데이터 분석 · 결과 통합 · 검증 보정 · 질문 생성이라는 작고 단순한 문제로 나누었습니다.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990570" cy="28672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81180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42206" y="1542776"/>
            <a:ext cx="3872484" cy="28672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506" y="1657076"/>
            <a:ext cx="3643884" cy="285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32676" y="1657076"/>
            <a:ext cx="349145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 Agent · 체류 · 이동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56506" y="1990466"/>
            <a:ext cx="3643884" cy="285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32676" y="1990466"/>
            <a:ext cx="349145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Calendar Agent · 일정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56506" y="2323856"/>
            <a:ext cx="3643884" cy="285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32676" y="2323856"/>
            <a:ext cx="349145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 Agent · 이미지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56506" y="2657155"/>
            <a:ext cx="3643884" cy="285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32676" y="2657155"/>
            <a:ext cx="349145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 · Activity Agent · 수면 · 활동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56506" y="2990545"/>
            <a:ext cx="3643884" cy="285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932676" y="2990545"/>
            <a:ext cx="349145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16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Notification Agent · 알림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37487" y="3333445"/>
            <a:ext cx="368201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Event Agent 병렬 실행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5671840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32958" y="1542776"/>
            <a:ext cx="990570" cy="286728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0677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41612" y="1542776"/>
            <a:ext cx="990570" cy="2867284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89422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50448" y="1542776"/>
            <a:ext cx="990570" cy="2867284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98168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59194" y="1542776"/>
            <a:ext cx="990570" cy="2867284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06913" y="1542776"/>
            <a:ext cx="103876" cy="28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668030" y="1542776"/>
            <a:ext cx="990570" cy="2867284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3370" y="4581510"/>
            <a:ext cx="3594049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3930" y="4772071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효율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3930" y="5067330"/>
            <a:ext cx="321311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단계가 필요한 정보만 받아 한 가지 역할에 집중하므로,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모델로도 충분한 품질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결과를 만들 수 있습니다.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8960" y="4581510"/>
            <a:ext cx="3594049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9430" y="4772071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가능성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489430" y="5067330"/>
            <a:ext cx="321311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입력과 출력을 구분해 관리하므로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발생한 지점을 특정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해당 단계만 개선하거나 재처리할 수 있습니다.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64459" y="4581510"/>
            <a:ext cx="3594141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54929" y="4772071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효율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54929" y="5067330"/>
            <a:ext cx="3213202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파이프라인을 안정적으로 관리하면서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토큰 비용과 처리 시간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줄일 수 있습니다.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40" name="Text 38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51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3 / 9 · Agent 역할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종류의 Agent가 각각 다른 책임을 맡습니다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사건의 의미와 구성은 LLM이 판단하고, 규칙으로 확인할 수 있는 조건은 코드가 확정하도록 역할을 나누었습니다.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227173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38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227173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Agent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08037"/>
            <a:ext cx="2271735" cy="238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· 일정 · 사진 · 건강 · 알림은 형태와 분석 방법이 달라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5개로 분리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담당 데이터만 전용 프롬프트로 분석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처리 시간 단축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후보와 보조 단서라는 동일 형식으로 반환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실패해도 나머지 결과로 생성 계속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3357585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8055" y="1733245"/>
            <a:ext cx="227173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38" dirty="0"/>
          </a:p>
        </p:txBody>
      </p:sp>
      <p:sp>
        <p:nvSpPr>
          <p:cNvPr id="11" name="Text 9"/>
          <p:cNvSpPr txBox="1"/>
          <p:nvPr/>
        </p:nvSpPr>
        <p:spPr>
          <a:xfrm>
            <a:off x="3548055" y="1990466"/>
            <a:ext cx="227173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 Agent</a:t>
            </a:r>
            <a:endParaRPr lang="en-US" sz="1463" dirty="0"/>
          </a:p>
        </p:txBody>
      </p:sp>
      <p:sp>
        <p:nvSpPr>
          <p:cNvPr id="12" name="Text 10"/>
          <p:cNvSpPr txBox="1"/>
          <p:nvPr/>
        </p:nvSpPr>
        <p:spPr>
          <a:xfrm>
            <a:off x="3548055" y="2308037"/>
            <a:ext cx="2271735" cy="191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Agent의 사건 후보와 단서를 종합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데이터에서 포착된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사건을 하나로 병합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근거의 일치 여부와 사건 간 시간 관계를 함께 고려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· 제목 · 설명 · 시간 · 장소를 포함한 타임라인 초안 생성</a:t>
            </a:r>
            <a:endParaRPr lang="en-US" sz="1148" dirty="0"/>
          </a:p>
        </p:txBody>
      </p:sp>
      <p:sp>
        <p:nvSpPr>
          <p:cNvPr id="13" name="Shape 11"/>
          <p:cNvSpPr/>
          <p:nvPr/>
        </p:nvSpPr>
        <p:spPr>
          <a:xfrm>
            <a:off x="6181710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2271" y="1733245"/>
            <a:ext cx="227173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6372271" y="1990466"/>
            <a:ext cx="227173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Repair Agent</a:t>
            </a:r>
            <a:endParaRPr lang="en-US" sz="1463" dirty="0"/>
          </a:p>
        </p:txBody>
      </p:sp>
      <p:sp>
        <p:nvSpPr>
          <p:cNvPr id="16" name="Text 14"/>
          <p:cNvSpPr txBox="1"/>
          <p:nvPr/>
        </p:nvSpPr>
        <p:spPr>
          <a:xfrm>
            <a:off x="6372271" y="2308037"/>
            <a:ext cx="2271735" cy="22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 실제 저장 가능한 형태로 검증 · 보정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누락된 일정 복원, 원본 연결 확인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범위 및 수면 경계 적용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체류 병합, 중복 · 겹침 정리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장소와 사건 유형 보정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지켜야 하는 규칙을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적용</a:t>
            </a:r>
            <a:endParaRPr lang="en-US" sz="1148" dirty="0"/>
          </a:p>
        </p:txBody>
      </p:sp>
      <p:sp>
        <p:nvSpPr>
          <p:cNvPr id="17" name="Shape 15"/>
          <p:cNvSpPr/>
          <p:nvPr/>
        </p:nvSpPr>
        <p:spPr>
          <a:xfrm>
            <a:off x="9005926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6395" y="1733245"/>
            <a:ext cx="227173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9196395" y="1990466"/>
            <a:ext cx="227173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 Agent</a:t>
            </a:r>
            <a:endParaRPr lang="en-US" sz="1463" dirty="0"/>
          </a:p>
        </p:txBody>
      </p:sp>
      <p:sp>
        <p:nvSpPr>
          <p:cNvPr id="20" name="Text 18"/>
          <p:cNvSpPr txBox="1"/>
          <p:nvPr/>
        </p:nvSpPr>
        <p:spPr>
          <a:xfrm>
            <a:off x="9196395" y="2308037"/>
            <a:ext cx="2271735" cy="1705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확정 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이벤트마다 질문 1개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사실을 다시 묻지 않음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당시의 감정 · 생각 · 의미를 자연스럽게 기록하도록 유도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일기를 완성하는 진입점 역할</a:t>
            </a:r>
            <a:endParaRPr lang="en-US" sz="1148" dirty="0"/>
          </a:p>
        </p:txBody>
      </p:sp>
      <p:sp>
        <p:nvSpPr>
          <p:cNvPr id="21" name="Shape 19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23" name="Text 21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51</a:t>
            </a:r>
            <a:endParaRPr lang="en-US" sz="9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4 / 9 · 기술 선정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 프레임워크와 LLM 선정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57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자율적 협업보다 실행 경로의 정확한 통제가 중요했고, 모델은 일반 벤치마크 점수보다 실제 서비스 데이터에서의 성능을 기준으로 비교하고 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784452"/>
            <a:ext cx="5476890" cy="34930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974921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· LangGraph 선정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292584"/>
            <a:ext cx="5095860" cy="12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CrewAI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역할과 목표를 부여한 Agent의 자율적 협업에 강점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AutoGen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Agent 간 메시지 기반 협업과 분산 실행에 강점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Laimory에 필요한 것은 자유로운 대화가 아니라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데이터별 병렬 분석, 결과 병합, 검증 실패 시 재처리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실행 경로의 통제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공유 상태와 분기 · 반복 구조를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그래프로 명시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LangGraph 선정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742950" y="4848972"/>
            <a:ext cx="683697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610" y="4848972"/>
            <a:ext cx="5503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완료</a:t>
            </a:r>
            <a:endParaRPr lang="en-US" sz="938" dirty="0"/>
          </a:p>
        </p:txBody>
      </p:sp>
      <p:sp>
        <p:nvSpPr>
          <p:cNvPr id="10" name="Shape 8"/>
          <p:cNvSpPr/>
          <p:nvPr/>
        </p:nvSpPr>
        <p:spPr>
          <a:xfrm>
            <a:off x="6181710" y="1784452"/>
            <a:ext cx="5476890" cy="34930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2271" y="1974921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경량 멀티모달 3종 비교</a:t>
            </a:r>
            <a:endParaRPr lang="en-US" sz="1463" dirty="0"/>
          </a:p>
        </p:txBody>
      </p:sp>
      <p:sp>
        <p:nvSpPr>
          <p:cNvPr id="12" name="Shape 10"/>
          <p:cNvSpPr/>
          <p:nvPr/>
        </p:nvSpPr>
        <p:spPr>
          <a:xfrm>
            <a:off x="6391290" y="2292584"/>
            <a:ext cx="893735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57950" y="2292584"/>
            <a:ext cx="76041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GPT-5.4 mini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7342175" y="2292584"/>
            <a:ext cx="1091428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8835" y="2292584"/>
            <a:ext cx="95810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2.5 Flash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8490753" y="2292584"/>
            <a:ext cx="1306495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57412" y="2292584"/>
            <a:ext cx="117308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Nova 2 Lite</a:t>
            </a:r>
            <a:endParaRPr lang="en-US" sz="938" dirty="0"/>
          </a:p>
        </p:txBody>
      </p:sp>
      <p:sp>
        <p:nvSpPr>
          <p:cNvPr id="18" name="Text 16"/>
          <p:cNvSpPr txBox="1"/>
          <p:nvPr/>
        </p:nvSpPr>
        <p:spPr>
          <a:xfrm>
            <a:off x="6372271" y="2625974"/>
            <a:ext cx="509586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데이터를 입력해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추론 정확도, 한국어 타임라인 품질, JSON 형식 준수율, 이미지 이해 성능, 응답 시간, 비용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Provider별 호출 방식 차이는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인터페이스로 추상화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모델만 교체해 동일 파이프라인 평가 가능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Structured Output 검증과 부분 파싱 · 재시도로 오류 내성 확보</a:t>
            </a:r>
            <a:endParaRPr lang="en-US" sz="1148" dirty="0"/>
          </a:p>
        </p:txBody>
      </p:sp>
      <p:sp>
        <p:nvSpPr>
          <p:cNvPr id="19" name="Shape 17"/>
          <p:cNvSpPr/>
          <p:nvPr/>
        </p:nvSpPr>
        <p:spPr>
          <a:xfrm>
            <a:off x="6391290" y="4848972"/>
            <a:ext cx="1118586" cy="23811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57950" y="4848972"/>
            <a:ext cx="98526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평가 진행 중</a:t>
            </a:r>
            <a:endParaRPr lang="en-US" sz="938" dirty="0"/>
          </a:p>
        </p:txBody>
      </p:sp>
      <p:sp>
        <p:nvSpPr>
          <p:cNvPr id="21" name="Shape 19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추론과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Pydantic · 코드 기반의 결정론적 검증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결합해 모델 의존도를 낮추고, 경량 모델에서도 일관된 결과가 나오도록 설계했습니다.</a:t>
            </a:r>
            <a:endParaRPr lang="en-US" sz="1238" dirty="0"/>
          </a:p>
        </p:txBody>
      </p:sp>
      <p:sp>
        <p:nvSpPr>
          <p:cNvPr id="23" name="Shape 2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25" name="Text 2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51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5 / 9 · 품질 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 품질 요구를 정량 기준으로 프롬프트에 부여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"자연스럽고 정확한 타임라인을 만들어라"는 지시만으로는 품질이 일정하지 않아, 길이 · 시간 · 누락률 등 측정 가능한 기준으로 구체화했습니다.</a:t>
            </a:r>
            <a:endParaRPr lang="en-US" sz="1313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2113727"/>
                <a:gridCol w="9011503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정량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 Agent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유효한 원본 데이터를 candidate 또는 fragment에 포함해 누락 방지 · 캘린더는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보존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 선택한 사진도 모두 한 번씩 반영 · 위치 데이터에서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20분 이하 짧은 체류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는 독립 활동으로 단정하지 않고 이동 중 분절 가능성을 우선 검토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Timeline Agent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제목은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30자 이내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설명은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1~2문장 · 100자 내외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캘린더 · 수면 · 이동처럼 지속시간이 명확한 경우를 제외하면 이벤트는 기본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3시간 이내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모든 이벤트에 최소 1개 이상의 유효한 원본 근거 연결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Repair Agent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Timeline Agent와 동일 기준을 재적용 · 제목 30자 초과 또는 설명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120자 · 2문장 초과 시 축약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직접적 근거 없이 3시간을 넘는 이벤트는 시간 조정 또는 분할 대상 · 사진 누락 · 중복 귀속, 캘린더 누락, 잘못된 원본 참조 검사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기준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이벤트는 사용자가 요청한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범위 안에서만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생성하고, 실제 입력에 존재하는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rawId를 최소 1개 이상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근거로 연결 → 범위를 벗어난 사건이나 원본으로 확인할 수 없는 사건의 생성을 방지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8" name="Text 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51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6 / 9 · 품질 ②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도구로 필수 조건을 코드가 확정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AI는 기준을 이해해도 일부 조건을 누락하거나 입력에 없는 내용을 만들 수 있어, 명확한 규칙은 코드로 다시 검증하고 보정합니다.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350699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· 범위 보정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09485"/>
            <a:ext cx="5095860" cy="154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입력에 없는 rawId를 제거하고, 유효한 근거가 남지 않은 이벤트를 삭제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잘못 작성한 sourceType을 원본 데이터의 실제 유형으로 정정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타임라인에서 누락된 캘린더 일정을 원본 데이터로 복원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시간 범위를 완전히 벗어난 이벤트를 제거하고, 경계에 걸친 이벤트는 범위 안으로 조정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근거를 바탕으로 장소명을 확정하고 근거가 없는 주소를 제거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350699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중복 보정과 저장 차단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09485"/>
            <a:ext cx="5095860" cy="196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 이벤트의 지속시간을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20~60분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이전의 일반 이벤트를 제거하고, 수면 구간과 겹친 이벤트의 시간을 조정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없이 이어진 동일 장소의 체류 이벤트와 명확한 중복 이벤트를 병합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누락 · 중복 귀속, 120자 초과 설명, 3시간 초과 이벤트는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기록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직전 제목 · 시간 범위 · 원본 근거 존재 여부를 재검증하고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결과의 저장을 차단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도구들은 같은 입력에 항상 같은 결과를 반환하므로, LLM 출력의 변동성과 관계없이 필수 조건을 일관되게 보장합니다.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사건의 의미와 구성은 LLM이, 시간 · 근거 · 누락 · 중복은 코드가 확정합니다.</a:t>
            </a:r>
            <a:endParaRPr lang="en-US" sz="1238" dirty="0"/>
          </a:p>
        </p:txBody>
      </p:sp>
      <p:sp>
        <p:nvSpPr>
          <p:cNvPr id="13" name="Shape 1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51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7 / 9 · 품질 ③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Memory · 사용자 맥락을 압축한 프로필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하루 타임라인을 확정하면, 기존 프로필과 최근 기록을 함께 분석해 전체 프로필을 갱신합니다.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4532315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4151285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저장하는 정보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50816"/>
            <a:ext cx="4151285" cy="210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프로필과 생활 맥락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관계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성격과 가치관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선호와 반복되는 생활 패턴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관심사와 목표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패턴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방식에 대한 선호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추가 속성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5313304" y="1542776"/>
            <a:ext cx="6345204" cy="11334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03865" y="1733245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방식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03865" y="2028505"/>
            <a:ext cx="5964174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활동과 생활 패턴은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에서, 성격 · 가치관 · 선호는 사용자가 직접 작성한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추출합니다.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13304" y="2847716"/>
            <a:ext cx="6345204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3865" y="3038185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누적이 아니라 재작성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03865" y="3333445"/>
            <a:ext cx="5964174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정보는 자유로운 자연어로 표현하되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JSON 스키마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안에서 관리합니다. 새 내용을 계속 쌓는 대신 기존 정보와 병합해 전체 프로필을 다시 작성하여, 오래된 정보와 중복을 정리하고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일정한 크기를 유지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13304" y="4381256"/>
            <a:ext cx="6345204" cy="13620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3865" y="4571726"/>
            <a:ext cx="59641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사용처와 안전장치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03865" y="4866985"/>
            <a:ext cx="5964174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 · Question Agent에 제공되어 장소와 관계를 사용자 맥락에 맞게 해석합니다. 다만 User Memory는 사건 발생을 증명하는 원본이 아니므로,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데이터와 충돌하면 항상 원본을 우선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51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8 / 9 · 품질 ④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System · 평가에서 개선, 재검증까지 자동화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결과를 일부 확인하는 방식으로는 개선 여부를 객관적으로 판단할 수 없어, 평가 · 개선 · 재검증을 하나의 순환으로 구성했습니다.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6345204" cy="3506998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pic>
        <p:nvPicPr>
          <p:cNvPr id="6" name="Image 0" descr="C:\Users\samsung\Desktop\Git Repositories\Laimory-wiki\raw\notes\laimory-midterm-presentation-html-assets\evaluation-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121" y="1789664"/>
            <a:ext cx="6211794" cy="30131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26194" y="1542776"/>
            <a:ext cx="4532315" cy="19858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6754" y="1733245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채점 사례 · generate-timeline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6754" y="2028505"/>
            <a:ext cx="135194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5/10</a:t>
            </a:r>
            <a:endParaRPr lang="en-US" sz="2325" dirty="0"/>
          </a:p>
        </p:txBody>
      </p:sp>
      <p:sp>
        <p:nvSpPr>
          <p:cNvPr id="10" name="Text 7"/>
          <p:cNvSpPr txBox="1"/>
          <p:nvPr/>
        </p:nvSpPr>
        <p:spPr>
          <a:xfrm>
            <a:off x="7316754" y="2381006"/>
            <a:ext cx="135194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716244" y="2028505"/>
            <a:ext cx="135194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325" dirty="0"/>
          </a:p>
        </p:txBody>
      </p:sp>
      <p:sp>
        <p:nvSpPr>
          <p:cNvPr id="12" name="Text 9"/>
          <p:cNvSpPr txBox="1"/>
          <p:nvPr/>
        </p:nvSpPr>
        <p:spPr>
          <a:xfrm>
            <a:off x="8716244" y="2381006"/>
            <a:ext cx="135194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문제점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115824" y="2028505"/>
            <a:ext cx="135194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4~8</a:t>
            </a:r>
            <a:endParaRPr lang="en-US" sz="2325" dirty="0"/>
          </a:p>
        </p:txBody>
      </p:sp>
      <p:sp>
        <p:nvSpPr>
          <p:cNvPr id="14" name="Text 11"/>
          <p:cNvSpPr txBox="1"/>
          <p:nvPr/>
        </p:nvSpPr>
        <p:spPr>
          <a:xfrm>
            <a:off x="10115824" y="2381006"/>
            <a:ext cx="135194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기준별 점수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6754" y="2681844"/>
            <a:ext cx="4151285" cy="772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충실성 / 환각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4/10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시간 정합성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4/10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장소 정합성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8/10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점수마다 판단 근거를 문장으로 기록</a:t>
            </a:r>
            <a:endParaRPr lang="en-US" sz="1148" dirty="0"/>
          </a:p>
        </p:txBody>
      </p:sp>
      <p:sp>
        <p:nvSpPr>
          <p:cNvPr id="16" name="Shape 13"/>
          <p:cNvSpPr/>
          <p:nvPr/>
        </p:nvSpPr>
        <p:spPr>
          <a:xfrm>
            <a:off x="7126194" y="3700028"/>
            <a:ext cx="4532315" cy="1349654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6754" y="3890498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구조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6754" y="4185757"/>
            <a:ext cx="4151285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Langfuse 수집 →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LLM-as-a-Judge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 → 반복 발생 여부 · 심각도 분석 → 프롬프트 · 후처리 개선책 생성 → 입력 데이터와 기대 조건을 자동 생성해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데이터로 재검증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축은 근거 충실성, 시간 · 장소 정합성, 완결성, 문장 품질이며 누락 · 중복, 길이, 지속시간, 요청 범위, rawId 연결 등 프롬프트의 정량 기준도 함께 검증합니다.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 버전별 성능 비교와 롤백까지 지원할 예정입니다.</a:t>
            </a:r>
            <a:endParaRPr lang="en-US" sz="1238" dirty="0"/>
          </a:p>
        </p:txBody>
      </p:sp>
      <p:sp>
        <p:nvSpPr>
          <p:cNvPr id="21" name="Shape 18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23" name="Text 20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51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9 / 9 · 관측과 실행 환경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운영과 AI 실행의 관측을 분리하고 taskId로 연결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관측 대상은 목적이 다르므로 저장소를 나누고, 같은 작업 단위로 함께 분석할 수 있도록 키를 공유합니다.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262917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이벤트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Elasticsearch</a:t>
            </a:r>
            <a:endParaRPr lang="en-US" sz="1463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308037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처리 결과, 오류 코드, 외부 서버 연동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stdout JSON → Filebeat → Elasticsearch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집계에 활용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262917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실행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1990466"/>
            <a:ext cx="321311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Langfuse</a:t>
            </a:r>
            <a:endParaRPr lang="en-US" sz="1463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2308037"/>
            <a:ext cx="3213110" cy="107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Agent별 실행 단계, LLM 입출력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토큰 · 지연시간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계층형 Trace 분석에 특화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호출량 · 에러율 · 비용 이상 징후 조기 감지</a:t>
            </a:r>
            <a:endParaRPr lang="en-US" sz="1148" dirty="0"/>
          </a:p>
        </p:txBody>
      </p:sp>
      <p:sp>
        <p:nvSpPr>
          <p:cNvPr id="13" name="Shape 11"/>
          <p:cNvSpPr/>
          <p:nvPr/>
        </p:nvSpPr>
        <p:spPr>
          <a:xfrm>
            <a:off x="8064459" y="1542776"/>
            <a:ext cx="3594141" cy="2629174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4929" y="173324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54929" y="1990466"/>
            <a:ext cx="3213202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taskId</a:t>
            </a:r>
            <a:endParaRPr lang="en-US" sz="1463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308037"/>
            <a:ext cx="3213202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시스템을 taskId로 연결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Elasticsearch에 민감한 AI 처리 본문이 과도하게 쌓이는 것을 방지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장애와 모델 품질 문제를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분석</a:t>
            </a:r>
            <a:endParaRPr lang="en-US" sz="1148" dirty="0"/>
          </a:p>
        </p:txBody>
      </p:sp>
      <p:sp>
        <p:nvSpPr>
          <p:cNvPr id="17" name="Shape 15"/>
          <p:cNvSpPr/>
          <p:nvPr/>
        </p:nvSpPr>
        <p:spPr>
          <a:xfrm>
            <a:off x="533370" y="4343400"/>
            <a:ext cx="5476890" cy="1600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930" y="453387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실행 환경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3930" y="4829221"/>
            <a:ext cx="509586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배포와 컨테이너 상태를 직접 통제하기 위해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기반 EC2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구성했으며, GitHub Actions – ECR – SSM으로 자동 배포와 장애 시 롤백을 지원합니다.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2950" y="5515021"/>
            <a:ext cx="565922" cy="23811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9610" y="5515021"/>
            <a:ext cx="43251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6181710" y="4343400"/>
            <a:ext cx="5476890" cy="160020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2271" y="453387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계획 · Bedrock AgentCore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72271" y="4829221"/>
            <a:ext cx="509586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생성 요청이 특정 시점에 집중되고 평상시에는 유휴 시간이 발생하는 특성을 고려해,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On-demand 실행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상시 EC2의 유휴 비용과 인프라 관리 부담을 줄일 계획입니다.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91290" y="5515021"/>
            <a:ext cx="683697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57950" y="5515021"/>
            <a:ext cx="5503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예정</a:t>
            </a:r>
            <a:endParaRPr lang="en-US" sz="938" dirty="0"/>
          </a:p>
        </p:txBody>
      </p:sp>
      <p:sp>
        <p:nvSpPr>
          <p:cNvPr id="27" name="Shape 2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4350" y="6219840"/>
            <a:ext cx="120545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AI</a:t>
            </a:r>
            <a:endParaRPr lang="en-US" sz="938" dirty="0"/>
          </a:p>
        </p:txBody>
      </p:sp>
      <p:sp>
        <p:nvSpPr>
          <p:cNvPr id="29" name="Text 2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51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검증 1 / 3 · 타깃과 성공 정의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타깃과 First Value Action 정의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57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설치 수를 늘리는 것을 넘어, 서로 다른 소구점에 반응하는 핵심 사용자를 확보하고 실제 제품 사용으로 이어지는지를 검증하는 데 목적이 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784452"/>
            <a:ext cx="5476890" cy="41591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974921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타깃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311603"/>
            <a:ext cx="509586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업무와 일상 속에서도 하루를 기록하고 회고하는 데 관심이 높으며, 평소 일기나 메모를 쓰고 사진과 일정으로 일상의 흔적을 남기는 데 익숙한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후반 ~ 30대 사회초년생 및 저연차 직장인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3092684"/>
            <a:ext cx="5095860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필요성을 이미 인식하고 있음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기록을 직접 정리하는 불편을 경험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업무 · 관계 · 경험이 빠르게 축적되어 회고 필요가 크지만 정리할 시간은 부족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6181710" y="1784452"/>
            <a:ext cx="5476890" cy="4159148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2271" y="1974921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Value Action</a:t>
            </a:r>
            <a:endParaRPr lang="en-US" sz="1463" dirty="0"/>
          </a:p>
        </p:txBody>
      </p:sp>
      <p:sp>
        <p:nvSpPr>
          <p:cNvPr id="11" name="Shape 9"/>
          <p:cNvSpPr/>
          <p:nvPr/>
        </p:nvSpPr>
        <p:spPr>
          <a:xfrm>
            <a:off x="6391290" y="2311603"/>
            <a:ext cx="5057821" cy="7223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721" y="2311603"/>
            <a:ext cx="475296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생성된 타임라인을 확인하고 필요한 경우 수정한 뒤 첫 일간 회고 작성을 완료함</a:t>
            </a:r>
            <a:endParaRPr lang="en-US" sz="1238" dirty="0"/>
          </a:p>
        </p:txBody>
      </p:sp>
      <p:sp>
        <p:nvSpPr>
          <p:cNvPr id="13" name="Text 11"/>
          <p:cNvSpPr txBox="1"/>
          <p:nvPr/>
        </p:nvSpPr>
        <p:spPr>
          <a:xfrm>
            <a:off x="6372271" y="3148279"/>
            <a:ext cx="5095860" cy="100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Laimory의 핵심 가치는 사용자가 하루를 의미 있는 기록으로 남기고 삶의 흐름을 기억 · 이해하도록 돕는 데 있습니다. 따라서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타임라인을 자신의 기록으로 받아들이고 첫 회고까지 완료한 시점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핵심 가치를 처음 경험한 순간으로 정의했습니다.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72271" y="5295930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 의견 반영 — 사용자가 이 지점에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빨리 도달하는지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측정합니다.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4350" y="6219840"/>
            <a:ext cx="161665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제품 검증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51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검증 2 / 3 · 소구점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소구점으로 사용자 문제 가설을 비교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타깃이 어떤 문제와 가치에 더 크게 반응하는지 확인하기 위해 서로 다른 사용 동기를 대표하는 두 메시지를 선정했습니다.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4480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소구점 A</a:t>
            </a:r>
            <a:endParaRPr lang="en-US" sz="938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1990466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하루, 얼마나 기억하고 있나요?”</a:t>
            </a:r>
            <a:endParaRPr lang="en-US" sz="1463" dirty="0"/>
          </a:p>
        </p:txBody>
      </p:sp>
      <p:sp>
        <p:nvSpPr>
          <p:cNvPr id="8" name="Shape 6"/>
          <p:cNvSpPr/>
          <p:nvPr/>
        </p:nvSpPr>
        <p:spPr>
          <a:xfrm>
            <a:off x="742950" y="2346076"/>
            <a:ext cx="5057821" cy="1009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5871" y="2488997"/>
            <a:ext cx="47720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문제 가설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85871" y="2784257"/>
            <a:ext cx="4772071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어떤 일이 있었는지 다시 떠올리고, 지나간 하루를 기록으로 남기고 싶어 하는 사용자가 있을 것이다.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42950" y="3451037"/>
            <a:ext cx="5057821" cy="100968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5871" y="3593866"/>
            <a:ext cx="47720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Laimory의 제안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5871" y="3889126"/>
            <a:ext cx="4772071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있었던 일을 타임라인으로 정리하여 하루를 다시 확인하고 기록으로 남길 수 있도록 돕는다.</a:t>
            </a:r>
            <a:endParaRPr lang="en-US" sz="1125" dirty="0"/>
          </a:p>
        </p:txBody>
      </p:sp>
      <p:sp>
        <p:nvSpPr>
          <p:cNvPr id="14" name="Text 12"/>
          <p:cNvSpPr txBox="1"/>
          <p:nvPr/>
        </p:nvSpPr>
        <p:spPr>
          <a:xfrm>
            <a:off x="723930" y="5524530"/>
            <a:ext cx="50958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다시 기억하게 해주는 서비스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71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2271" y="1733245"/>
            <a:ext cx="53702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3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소구점 B</a:t>
            </a:r>
            <a:endParaRPr lang="en-US" sz="938" dirty="0"/>
          </a:p>
        </p:txBody>
      </p:sp>
      <p:sp>
        <p:nvSpPr>
          <p:cNvPr id="17" name="Text 15"/>
          <p:cNvSpPr txBox="1"/>
          <p:nvPr/>
        </p:nvSpPr>
        <p:spPr>
          <a:xfrm>
            <a:off x="6372271" y="1990466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“일기를 쓰고 싶지만, 매일 기록하는 일이 힘들지 않나요?”</a:t>
            </a:r>
            <a:endParaRPr lang="en-US" sz="1463" dirty="0"/>
          </a:p>
        </p:txBody>
      </p:sp>
      <p:sp>
        <p:nvSpPr>
          <p:cNvPr id="18" name="Shape 16"/>
          <p:cNvSpPr/>
          <p:nvPr/>
        </p:nvSpPr>
        <p:spPr>
          <a:xfrm>
            <a:off x="6391290" y="2346076"/>
            <a:ext cx="5057821" cy="122392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4120" y="2488997"/>
            <a:ext cx="47720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문제 가설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4120" y="2784257"/>
            <a:ext cx="4772071" cy="73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일기를 쓰는 사용자 중에는 하루를 처음부터 직접 떠올려 작성하기보다, AI가 정리한 타임라인을 바탕으로 기록하는 새로운 방식에 관심을 보이는 사용자가 있을 것이다.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391290" y="3665281"/>
            <a:ext cx="5057821" cy="100968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4120" y="3808202"/>
            <a:ext cx="47720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Laimory의 제안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4120" y="4103461"/>
            <a:ext cx="4772071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spc="-11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하루의 타임라인을 먼저 제공하고, 사용자가 수정하고 회고를 더해 일기를 완성하도록 돕는다.</a:t>
            </a:r>
            <a:endParaRPr lang="en-US" sz="1125" dirty="0"/>
          </a:p>
        </p:txBody>
      </p:sp>
      <p:sp>
        <p:nvSpPr>
          <p:cNvPr id="24" name="Text 22"/>
          <p:cNvSpPr txBox="1"/>
          <p:nvPr/>
        </p:nvSpPr>
        <p:spPr>
          <a:xfrm>
            <a:off x="6372271" y="5524530"/>
            <a:ext cx="50958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일기 작성을 도와주는 서비스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4350" y="6219840"/>
            <a:ext cx="145343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마케팅</a:t>
            </a:r>
            <a:endParaRPr lang="en-US" sz="938" dirty="0"/>
          </a:p>
        </p:txBody>
      </p:sp>
      <p:sp>
        <p:nvSpPr>
          <p:cNvPr id="27" name="Text 2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51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검증 3 / 3 · 베타와 광고 집행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테스트와 출시 후 소구점 검증 계획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베타에서 제품 문제를 걷어낸 뒤, 정식 출시와 함께 두 소구점을 동일 조건에서 비교합니다.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베타테스터 모집 및 제품 검증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69836"/>
            <a:ext cx="166045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20명</a:t>
            </a:r>
            <a:endParaRPr lang="en-US" sz="2325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422337"/>
            <a:ext cx="1660459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지인 · 17기 연수생 · 개발자 커뮤니티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441539" y="2069836"/>
            <a:ext cx="166045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8.24~8.30</a:t>
            </a:r>
            <a:endParaRPr lang="en-US" sz="2325" dirty="0"/>
          </a:p>
        </p:txBody>
      </p:sp>
      <p:sp>
        <p:nvSpPr>
          <p:cNvPr id="10" name="Text 8"/>
          <p:cNvSpPr txBox="1"/>
          <p:nvPr/>
        </p:nvSpPr>
        <p:spPr>
          <a:xfrm>
            <a:off x="2441539" y="2422337"/>
            <a:ext cx="1660459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1주일간 진행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59148" y="2069836"/>
            <a:ext cx="1660459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5개+</a:t>
            </a:r>
            <a:endParaRPr lang="en-US" sz="2325" dirty="0"/>
          </a:p>
        </p:txBody>
      </p:sp>
      <p:sp>
        <p:nvSpPr>
          <p:cNvPr id="12" name="Text 10"/>
          <p:cNvSpPr txBox="1"/>
          <p:nvPr/>
        </p:nvSpPr>
        <p:spPr>
          <a:xfrm>
            <a:off x="4159148" y="2422337"/>
            <a:ext cx="1660459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일기 작성 시 소정의 보상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3930" y="2909895"/>
            <a:ext cx="5095860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회원가입부터 첫 일간 회고 완료까지의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Value Action과 단계별 KPI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후 Google Form 설문과 인터뷰로 타임라인 품질 · 사용성 피드백 확보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발견된 문제를 제품 개선에 반영</a:t>
            </a:r>
            <a:endParaRPr lang="en-US" sz="1148" dirty="0"/>
          </a:p>
        </p:txBody>
      </p:sp>
      <p:sp>
        <p:nvSpPr>
          <p:cNvPr id="14" name="Shape 12"/>
          <p:cNvSpPr/>
          <p:nvPr/>
        </p:nvSpPr>
        <p:spPr>
          <a:xfrm>
            <a:off x="742950" y="5515021"/>
            <a:ext cx="1204173" cy="23811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610" y="5515021"/>
            <a:ext cx="107076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spc="-9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24일 시작 예정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618171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2271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출시 이후 마케팅 및 소구점 검증</a:t>
            </a:r>
            <a:endParaRPr lang="en-US" sz="1463" dirty="0"/>
          </a:p>
        </p:txBody>
      </p:sp>
      <p:sp>
        <p:nvSpPr>
          <p:cNvPr id="18" name="Text 16"/>
          <p:cNvSpPr txBox="1"/>
          <p:nvPr/>
        </p:nvSpPr>
        <p:spPr>
          <a:xfrm>
            <a:off x="6372271" y="2069836"/>
            <a:ext cx="5095860" cy="180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 브랜드 계정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사용 과정과 주요 기능을 Reels · 게시물로 제작해 인지도 확보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 광고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소구점별 광고 소재와 랜딩 페이지를 제작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메시지를 제외한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· 광고 형식 · 랜딩 구성 · CTA는 동일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유지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CTA는 앱 설치하기로 설정하여 Google Play로 연결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총예산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30만 원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두 소구점에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배분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약 1주일간 집행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리퍼러와 GA4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광고 유입부터 첫 가치 행동까지 전환 추적</a:t>
            </a:r>
            <a:endParaRPr lang="en-US" sz="1148" dirty="0"/>
          </a:p>
        </p:txBody>
      </p:sp>
      <p:sp>
        <p:nvSpPr>
          <p:cNvPr id="19" name="Text 17"/>
          <p:cNvSpPr txBox="1"/>
          <p:nvPr/>
        </p:nvSpPr>
        <p:spPr>
          <a:xfrm>
            <a:off x="6372271" y="5524530"/>
            <a:ext cx="50958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성과가 높은 소구점에 후속 마케팅 예산을 집중합니다.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4350" y="6219840"/>
            <a:ext cx="161665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제품 검증</a:t>
            </a:r>
            <a:endParaRPr lang="en-US" sz="938" dirty="0"/>
          </a:p>
        </p:txBody>
      </p:sp>
      <p:sp>
        <p:nvSpPr>
          <p:cNvPr id="22" name="Text 20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51</a:t>
            </a:r>
            <a:endParaRPr lang="en-US" sz="9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1 / 2 · 캠페인 광고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KPI · 어떤 소구점이 실제 사용을 만드는가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클릭에서 설치, 설치에서 첫 가치 행동까지 단계별로 끊어 측정해 소구점의 실질 효율을 비교합니다.</a:t>
            </a:r>
            <a:endParaRPr lang="en-US" sz="1313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2892430"/>
                <a:gridCol w="4338828"/>
                <a:gridCol w="3893881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클릭률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노출 사용자 중 광고를 클릭한 사용자 비율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소구점이 더 큰 관심을 유도했는지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설치 전환율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광고를 클릭한 사용자 중 앱을 설치한 사용자 비율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메시지가 실제 앱 설치로 이어졌는지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캠페인별 첫 가치 행동 전환율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캠페인을 통해 앱을 설치한 사용자 중 첫 일간 회고를 완료한 사용자 비율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소구점이 실제 핵심 가치 경험으로 이어졌는지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가치 행동 사용자 획득 비용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광고비를 첫 일간 회고를 완료한 사용자 수로 나눈 값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소구점별 실질적인 사용자 획득 효율 비교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광고를 통해 유입된 사용자는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리퍼러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캠페인 · 소구점 정보와 앱 내부 행동을 연결하여, 설치 수가 아니라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경험 단위로 비용을 비교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238" dirty="0"/>
          </a:p>
        </p:txBody>
      </p:sp>
      <p:sp>
        <p:nvSpPr>
          <p:cNvPr id="8" name="Shape 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4350" y="6219840"/>
            <a:ext cx="126662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KPI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51</a:t>
            </a:r>
            <a:endParaRPr lang="en-US" sz="9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2 / 2 · 앱 내부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내부 KPI와 측정 · 활용 방법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베타테스터와 출시 이후 유입 사용자 모두 동일한 기준으로 행동 지표를 수집합니다.</a:t>
            </a:r>
            <a:endParaRPr lang="en-US" sz="1313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6345204" cy="914400"/>
        </p:xfrm>
        <a:graphic>
          <a:graphicData uri="http://schemas.openxmlformats.org/drawingml/2006/table">
            <a:tbl>
              <a:tblPr/>
              <a:tblGrid>
                <a:gridCol w="1839956"/>
                <a:gridCol w="4505157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동의율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요청 과정에서 발생하는 이탈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 완료율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생성된 타임라인이 실제 기록으로 받아들여졌는지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수정률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생성한 내용의 정확도와 사용자의 수정 부담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삭제율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불필요하거나 잘못 생성된 이벤트의 정도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 추가율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타임라인을 자신의 기록으로 확장한 참여 행동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메모 작성 수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타임라인에 대한 사용자의 참여 정도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 · D7 · D30 리텐션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 기록 경험이 지속적인 사용으로 이어지는지 확인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26194" y="1542776"/>
            <a:ext cx="4532315" cy="1282629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6754" y="1733245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6754" y="2028505"/>
            <a:ext cx="4151285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GA4와 앱 내부 이벤트로 권한 동의, 타임라인 확인, 이벤트 수정 · 삭제, 메모 추가, 일간 회고 완료 및 반복 회고 행동을 측정합니다.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26194" y="2996855"/>
            <a:ext cx="4532315" cy="149275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6754" y="3187324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원칙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6754" y="3482584"/>
            <a:ext cx="4151285" cy="100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삭제율이 높으면 정확도가 낮거나 수정 부담이 큰 것으로, 메모 추가율이 높으면 자신의 기록으로 적극 활용한 것으로 볼 수 있습니다. 다만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행동만으로 만족 여부를 단정하지 않고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회고 완료율과 설문 · 인터뷰를 함께 분석합니다.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26194" y="4660971"/>
            <a:ext cx="4532315" cy="1282629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6754" y="4851441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범위 제한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6754" y="5146700"/>
            <a:ext cx="4151285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이벤트에는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내용이나 사진 · 위치 · 타임라인 원문을 포함하지 않으며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수정 · 삭제 · 작성 횟수와 완료 여부 등 행동 정보만 수집합니다.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4350" y="6219840"/>
            <a:ext cx="126662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개발 진행현황 · KPI</a:t>
            </a:r>
            <a:endParaRPr lang="en-US" sz="938" dirty="0"/>
          </a:p>
        </p:txBody>
      </p:sp>
      <p:sp>
        <p:nvSpPr>
          <p:cNvPr id="17" name="Text 14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51</a:t>
            </a:r>
            <a:endParaRPr lang="en-US" sz="9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 1 / 4 · 기획 단계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재검토와 1주 스프린트 검증 루프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 및 멘토 의견을 바탕으로 핵심 사용자 문제와 서비스 가설을 재검토하고, MVP 범위를 구체화했습니다.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141250" cy="99724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678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678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가설 재검토</a:t>
            </a:r>
            <a:endParaRPr lang="en-US" sz="1238" dirty="0"/>
          </a:p>
        </p:txBody>
      </p:sp>
      <p:sp>
        <p:nvSpPr>
          <p:cNvPr id="8" name="Text 6"/>
          <p:cNvSpPr txBox="1"/>
          <p:nvPr/>
        </p:nvSpPr>
        <p:spPr>
          <a:xfrm>
            <a:off x="666780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 · 멘토 의견 반영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410" y="1542776"/>
            <a:ext cx="2141342" cy="99724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2730" y="1704716"/>
            <a:ext cx="1874611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12730" y="1923806"/>
            <a:ext cx="1874611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 확정</a:t>
            </a:r>
            <a:endParaRPr lang="en-US" sz="1238" dirty="0"/>
          </a:p>
        </p:txBody>
      </p:sp>
      <p:sp>
        <p:nvSpPr>
          <p:cNvPr id="12" name="Text 10"/>
          <p:cNvSpPr txBox="1"/>
          <p:nvPr/>
        </p:nvSpPr>
        <p:spPr>
          <a:xfrm>
            <a:off x="2912730" y="2191542"/>
            <a:ext cx="1874611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기록 · 목표 추적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5451" y="1542776"/>
            <a:ext cx="2141250" cy="99724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8862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58862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흐름 설계</a:t>
            </a:r>
            <a:endParaRPr lang="en-US" sz="1238" dirty="0"/>
          </a:p>
        </p:txBody>
      </p:sp>
      <p:sp>
        <p:nvSpPr>
          <p:cNvPr id="16" name="Text 14"/>
          <p:cNvSpPr txBox="1"/>
          <p:nvPr/>
        </p:nvSpPr>
        <p:spPr>
          <a:xfrm>
            <a:off x="5158862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프로토타입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71492" y="1542776"/>
            <a:ext cx="2141250" cy="997245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4811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04811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테스트</a:t>
            </a:r>
            <a:endParaRPr lang="en-US" sz="1238" dirty="0"/>
          </a:p>
        </p:txBody>
      </p:sp>
      <p:sp>
        <p:nvSpPr>
          <p:cNvPr id="20" name="Text 18"/>
          <p:cNvSpPr txBox="1"/>
          <p:nvPr/>
        </p:nvSpPr>
        <p:spPr>
          <a:xfrm>
            <a:off x="7404811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흐름 반복 개선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17350" y="1542776"/>
            <a:ext cx="2141250" cy="9972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0760" y="1704716"/>
            <a:ext cx="187452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650760" y="1923806"/>
            <a:ext cx="1874520" cy="29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38" b="1" spc="-2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리뷰</a:t>
            </a:r>
            <a:endParaRPr lang="en-US" sz="1238" dirty="0"/>
          </a:p>
        </p:txBody>
      </p:sp>
      <p:sp>
        <p:nvSpPr>
          <p:cNvPr id="24" name="Text 22"/>
          <p:cNvSpPr txBox="1"/>
          <p:nvPr/>
        </p:nvSpPr>
        <p:spPr>
          <a:xfrm>
            <a:off x="9650760" y="2191542"/>
            <a:ext cx="1874520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종료 시 진입 여부 판단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370" y="2711470"/>
            <a:ext cx="5476890" cy="233821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3930" y="290194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프로토타입으로 설계한 흐름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3930" y="3197291"/>
            <a:ext cx="509586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연결, 타임라인 생성 · 편집 · 저장, 목표 등록 · 리마인드까지의 사용자 흐름을 Figma로 설계하고 알파 테스트를 통해 반복 개선했습니다.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1710" y="2711470"/>
            <a:ext cx="5476890" cy="23382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2271" y="2901940"/>
            <a:ext cx="50958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효과 검증 지표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72271" y="3178180"/>
            <a:ext cx="509586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완료율 · 최초 타임라인 생성률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등록률 · 리마인드 확인률 · 할 일 완료율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· D7 · D30 리텐션</a:t>
            </a:r>
            <a:endParaRPr lang="en-US" sz="1148" dirty="0"/>
          </a:p>
        </p:txBody>
      </p:sp>
      <p:sp>
        <p:nvSpPr>
          <p:cNvPr id="31" name="Shape 29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피드백은 커뮤니티 채널과 인앱 설문으로 상시 수집하고, MVP 출시 초기에는 베타 테스터 심층 인터뷰로 정성 피드백을 확보하여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스프린트마다 즉시 반영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목표는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NPS 30 이상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  <p:sp>
        <p:nvSpPr>
          <p:cNvPr id="33" name="Shape 3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4350" y="6219840"/>
            <a:ext cx="73874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수행 방법</a:t>
            </a:r>
            <a:endParaRPr lang="en-US" sz="938" dirty="0"/>
          </a:p>
        </p:txBody>
      </p:sp>
      <p:sp>
        <p:nvSpPr>
          <p:cNvPr id="35" name="Text 3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51</a:t>
            </a:r>
            <a:endParaRPr lang="en-US" sz="97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 2 / 4 · 협업 및 개발 프로세스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기반 협업과 LLM Wiki 기반 지식 축적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코드의 변경 이력뿐 아니라, 논의와 결정의 근거도 함께 축적되도록 프로세스를 구성했습니다.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협업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50816"/>
            <a:ext cx="5095860" cy="180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Flow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브랜치 전략으로 main · dev · feature를 목적에 따라 분리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Issue와 Pull Request로 작업 및 변경 이력 관리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Coding Agent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코드 분석, 구현 계획 수립, 테스트 작성, 문서화에 활용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공통 규칙과 반복 작업은 재사용 가능한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Skill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작성해 팀원 간 공유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Agent가 생성한 결과는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테스트와 코드 리뷰를 거쳐 통합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Actions로 빌드와 배포 자동화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협업 · 프로젝트 전용 LLM Wiki</a:t>
            </a:r>
            <a:endParaRPr lang="en-US" sz="1463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50816"/>
            <a:ext cx="5095860" cy="154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Andrej Karpathy가 공개한 오픈소스 LLM Wiki 사례를 참고해 구축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자료, 회의 기록, 기술 의사결정, 시스템 구조, 문제 해결 과정을 축적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자료와 검토된 지식을 구분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 관리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논의와 결정 사항을 효율적으로 조회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반복적인 자료 탐색을 줄이고,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근거를 바탕으로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새로운 아이디어와 기획안을 구체화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350" y="6219840"/>
            <a:ext cx="73874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수행 방법</a:t>
            </a:r>
            <a:endParaRPr lang="en-US" sz="938" dirty="0"/>
          </a:p>
        </p:txBody>
      </p:sp>
      <p:sp>
        <p:nvSpPr>
          <p:cNvPr id="13" name="Text 11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51</a:t>
            </a:r>
            <a:endParaRPr lang="en-US" sz="9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 3 / 4 · 통합 · 배포 · 기타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계약과 자동 배포 · 복구, 디자인과 법률 검토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기능의 완료보다 컴포넌트 간 책임과 실패 시 복구 가능성을 함께 관리합니다.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통합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09485"/>
            <a:ext cx="2271735" cy="144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· Backend · AI Server 간 API와 데이터 형식 정의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Sequence Diagram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호출 순서와 책임 명시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수집부터 생성 · 편집 · 저장까지의 흐름 통합</a:t>
            </a:r>
            <a:endParaRPr lang="en-US" sz="1148" dirty="0"/>
          </a:p>
        </p:txBody>
      </p:sp>
      <p:sp>
        <p:nvSpPr>
          <p:cNvPr id="8" name="Shape 6"/>
          <p:cNvSpPr/>
          <p:nvPr/>
        </p:nvSpPr>
        <p:spPr>
          <a:xfrm>
            <a:off x="3357585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8055" y="1733245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자동화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48055" y="2009485"/>
            <a:ext cx="2271735" cy="2173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· AI Server를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컨테이너화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Actions로 테스트 · 이미지 빌드 ·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ECR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등록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SSM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활용한 EC2 배포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check 실패 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이미지로 복구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Tester → Play Store 테스트 트랙 → 정식 출시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6181710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2271" y="1733245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72271" y="2009485"/>
            <a:ext cx="2271735" cy="212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Figma로 와이어프레임과 프로토타입 제작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· 타이포그래피 · 컴포넌트로 구성된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 사전 정립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· 회고 화면은 정보 과부하 없는 미니멀 레이아웃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피드백을 반영해 UI 반복 개선</a:t>
            </a:r>
            <a:endParaRPr lang="en-US" sz="1148" dirty="0"/>
          </a:p>
        </p:txBody>
      </p:sp>
      <p:sp>
        <p:nvSpPr>
          <p:cNvPr id="14" name="Shape 12"/>
          <p:cNvSpPr/>
          <p:nvPr/>
        </p:nvSpPr>
        <p:spPr>
          <a:xfrm>
            <a:off x="9005926" y="1542776"/>
            <a:ext cx="265267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6395" y="1733245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96395" y="2009485"/>
            <a:ext cx="2271735" cy="165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위치정보 · 개인정보 처리, 제3자 제공 동의 등 법적 위험을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멘토 자문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사전 검토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개인정보처리방침과 이용약관 마련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권한 요청 흐름에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 고지와 동의 절차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</a:t>
            </a:r>
            <a:endParaRPr lang="en-US" sz="1148" dirty="0"/>
          </a:p>
        </p:txBody>
      </p:sp>
      <p:sp>
        <p:nvSpPr>
          <p:cNvPr id="17" name="Shape 1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4350" y="6219840"/>
            <a:ext cx="73874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수행 방법</a:t>
            </a:r>
            <a:endParaRPr lang="en-US" sz="938" dirty="0"/>
          </a:p>
        </p:txBody>
      </p:sp>
      <p:sp>
        <p:nvSpPr>
          <p:cNvPr id="19" name="Text 1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51</a:t>
            </a:r>
            <a:endParaRPr lang="en-US" sz="9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방법 4 / 4 · 리스크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문제점 및 해결방법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프라이버시 · 프로젝트 관리 · 상용화 네 측면에서 예상되는 위험과 대응을 사전에 정의했습니다.</a:t>
            </a:r>
            <a:endParaRPr lang="en-US" sz="1313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1557498"/>
                <a:gridCol w="4561302"/>
                <a:gridCol w="5006431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해결방안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데이터가 충분히 누적되지 않은 상태에서 AI 분석 · 요약 품질이 낮아 사용자 이탈 발생 가능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Chat 및 고급 분석 기능은 일정 데이터 누적 후 점진적으로 활성화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급증할 경우 AI 분석 요청과 데이터 수집이 동시에 몰려 서버 과부하 및 응답 지연 발생 가능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오토 스케일링 적용, AI 분석 요청은 비동기 큐 방식으로 처리하고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부하 테스트로 선제 검증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버전마다 권한 정책이 달라 기능이 제한될 수 있고, 백그라운드 수집 시 배터리 소모로 이탈 발생 가능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권한별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폴백 로직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허용된 데이터만으로 부분 동작, WorkManager 기반 야간 배치로 백그라운드 실행 최소화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프라이버시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민감한 개인 데이터를 수집 · 분석하는 구조로 인해 유출 · 오남용을 우려한 권한 거부 및 이탈 발생 가능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내 우선 처리, 서버 전송 직전 모든 정보를 사용자에게 공개, 온보딩에서 데이터 처리 방식 명확히 안내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관리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 범위가 확장되거나 요구사항이 변경되어 일정 지연 발생 가능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 단위 스프린트 운영, 각 단계 종료 시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리뷰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다음 단계 진입 여부 결정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상용화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가치를 체감하려면 일정 기간 꾸준히 사용해야 하므로, 신규 사용자가 의미 있는 경험 전에 이탈할 가능성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· 커뮤니티 기능으로 상호작용 유도, 미접속 감지 후 개인화 푸시 알림으로 재방문 유도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4350" y="6219840"/>
            <a:ext cx="73874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수행 방법</a:t>
            </a:r>
            <a:endParaRPr lang="en-US" sz="938" dirty="0"/>
          </a:p>
        </p:txBody>
      </p:sp>
      <p:sp>
        <p:nvSpPr>
          <p:cNvPr id="8" name="Text 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51</a:t>
            </a:r>
            <a:endParaRPr lang="en-US" sz="9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형태 및 활용방안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구독형 서비스 · 3단계 등급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기록 기능은 무료로 제공하고, AI 기반 회고 · 패턴 분석 · 일상 기반 AI 대화 등 고급 기능을 구독 사용자에게 제공합니다.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3594049" cy="305784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28505"/>
            <a:ext cx="321311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2325" dirty="0"/>
          </a:p>
        </p:txBody>
      </p:sp>
      <p:sp>
        <p:nvSpPr>
          <p:cNvPr id="8" name="Text 6"/>
          <p:cNvSpPr txBox="1"/>
          <p:nvPr/>
        </p:nvSpPr>
        <p:spPr>
          <a:xfrm>
            <a:off x="723930" y="2438156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Timeline 생성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10회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추적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라이프 로그 기록 기능</a:t>
            </a:r>
            <a:endParaRPr lang="en-US" sz="1148" dirty="0"/>
          </a:p>
        </p:txBody>
      </p:sp>
      <p:sp>
        <p:nvSpPr>
          <p:cNvPr id="9" name="Shape 7"/>
          <p:cNvSpPr/>
          <p:nvPr/>
        </p:nvSpPr>
        <p:spPr>
          <a:xfrm>
            <a:off x="4298960" y="1542776"/>
            <a:ext cx="3594049" cy="3057845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430" y="1733245"/>
            <a:ext cx="321311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Tier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9430" y="2028505"/>
            <a:ext cx="3213110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2,300원</a:t>
            </a:r>
            <a:endParaRPr lang="en-US" sz="2325" dirty="0"/>
          </a:p>
        </p:txBody>
      </p:sp>
      <p:sp>
        <p:nvSpPr>
          <p:cNvPr id="12" name="Text 10"/>
          <p:cNvSpPr txBox="1"/>
          <p:nvPr/>
        </p:nvSpPr>
        <p:spPr>
          <a:xfrm>
            <a:off x="4489430" y="2438156"/>
            <a:ext cx="3213110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Timeline 생성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추적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일상 기반 AI 대화</a:t>
            </a:r>
            <a:endParaRPr lang="en-US" sz="1148" dirty="0"/>
          </a:p>
        </p:txBody>
      </p:sp>
      <p:sp>
        <p:nvSpPr>
          <p:cNvPr id="13" name="Text 11"/>
          <p:cNvSpPr txBox="1"/>
          <p:nvPr/>
        </p:nvSpPr>
        <p:spPr>
          <a:xfrm>
            <a:off x="4489430" y="4181460"/>
            <a:ext cx="321311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23,000원 · 경쟁 서비스 평균보다 낮게 책정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4459" y="1542776"/>
            <a:ext cx="3594141" cy="3057845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4929" y="1733245"/>
            <a:ext cx="32132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Tier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54929" y="2028505"/>
            <a:ext cx="3213202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7,800원</a:t>
            </a:r>
            <a:endParaRPr lang="en-US" sz="2325" dirty="0"/>
          </a:p>
        </p:txBody>
      </p:sp>
      <p:sp>
        <p:nvSpPr>
          <p:cNvPr id="17" name="Text 15"/>
          <p:cNvSpPr txBox="1"/>
          <p:nvPr/>
        </p:nvSpPr>
        <p:spPr>
          <a:xfrm>
            <a:off x="8254929" y="2438156"/>
            <a:ext cx="3213202" cy="819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Timeline 생성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2회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추적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기반 AI 대화 전체 제공</a:t>
            </a:r>
            <a:endParaRPr lang="en-US" sz="1148" dirty="0"/>
          </a:p>
        </p:txBody>
      </p:sp>
      <p:sp>
        <p:nvSpPr>
          <p:cNvPr id="18" name="Text 16"/>
          <p:cNvSpPr txBox="1"/>
          <p:nvPr/>
        </p:nvSpPr>
        <p:spPr>
          <a:xfrm>
            <a:off x="8254929" y="3952860"/>
            <a:ext cx="3213202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78,000원 · 주요 구독 서비스 가격대(7~8천 원) 참고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772071"/>
          <a:ext cx="11125230" cy="914400"/>
        </p:xfrm>
        <a:graphic>
          <a:graphicData uri="http://schemas.openxmlformats.org/drawingml/2006/table">
            <a:tbl>
              <a:tblPr/>
              <a:tblGrid>
                <a:gridCol w="2447483"/>
                <a:gridCol w="2169323"/>
                <a:gridCol w="2169323"/>
                <a:gridCol w="2169323"/>
                <a:gridCol w="2169780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구독료 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Laimory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Reflectly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(연)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23,000원 / 78,000원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26,000원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29,500원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120,000원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라이프 로그 자동 수집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4350" y="6219840"/>
            <a:ext cx="116979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결과물 · 기대효과</a:t>
            </a:r>
            <a:endParaRPr lang="en-US" sz="938" dirty="0"/>
          </a:p>
        </p:txBody>
      </p:sp>
      <p:sp>
        <p:nvSpPr>
          <p:cNvPr id="22" name="Text 19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51</a:t>
            </a:r>
            <a:endParaRPr lang="en-US" sz="9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 및 손익분기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운영 비용과 구독 손익분기 가정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초 배포부터 12월 초까지 약 3개월간 예상되는 운영 비용을 산정했습니다.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6345204" cy="4400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2466503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서버 · 인프라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2305020" y="2485522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2305020" y="2485522"/>
            <a:ext cx="1890156" cy="152430"/>
          </a:xfrm>
          <a:prstGeom prst="roundRect">
            <a:avLst>
              <a:gd name="adj" fmla="val 4997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35574" y="2461748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86.2만 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3930" y="2790383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Storage · Redis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305020" y="2809403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5020" y="2809403"/>
            <a:ext cx="1492209" cy="152430"/>
          </a:xfrm>
          <a:prstGeom prst="roundRect">
            <a:avLst>
              <a:gd name="adj" fmla="val 4997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35574" y="2785628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68.1만 원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3930" y="3114172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LLM · AI 서버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2305020" y="3133283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2305020" y="3133283"/>
            <a:ext cx="1658082" cy="152430"/>
          </a:xfrm>
          <a:prstGeom prst="roundRect">
            <a:avLst>
              <a:gd name="adj" fmla="val 4997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35574" y="3109417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75.7만 원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3930" y="3438053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· 기타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2305020" y="3457072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305020" y="3457072"/>
            <a:ext cx="928390" cy="152430"/>
          </a:xfrm>
          <a:prstGeom prst="roundRect">
            <a:avLst>
              <a:gd name="adj" fmla="val 4997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35574" y="3433298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41.6만 원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3930" y="3761933"/>
            <a:ext cx="14668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마케팅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2305020" y="3780953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2305020" y="3780953"/>
            <a:ext cx="3316254" cy="152430"/>
          </a:xfrm>
          <a:prstGeom prst="roundRect">
            <a:avLst>
              <a:gd name="adj" fmla="val 49970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35574" y="3757178"/>
            <a:ext cx="9525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150만 원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3930" y="4819071"/>
            <a:ext cx="5964174" cy="102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4000"/>
              </a:lnSpc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서버 — Spring 기반 2대(EC2 t3.medium), 개발용 서버, Load Balancing 및 기본 네트워크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— AgentCore Runtime + Bedrock, </a:t>
            </a:r>
            <a:pPr indent="0" marL="0">
              <a:lnSpc>
                <a:spcPct val="144000"/>
              </a:lnSpc>
              <a:buNone/>
            </a:pPr>
            <a:r>
              <a:rPr lang="en-US" sz="1148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3,000회 · 회당 70원</a:t>
            </a:r>
            <a:pPr indent="0" marL="0">
              <a:lnSpc>
                <a:spcPct val="144000"/>
              </a:lnSpc>
              <a:buNone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기준, 개발용 AI 서버</a:t>
            </a:r>
            <a:endParaRPr lang="en-US" sz="1148" dirty="0"/>
          </a:p>
          <a:p>
            <a:pPr marL="139700" indent="-139700">
              <a:lnSpc>
                <a:spcPct val="144000"/>
              </a:lnSpc>
              <a:spcBef>
                <a:spcPts val="375"/>
              </a:spcBef>
              <a:buSzPct val="100000"/>
              <a:buChar char="•"/>
            </a:pPr>
            <a:r>
              <a:rPr lang="en-US" sz="1148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— Prometheus · Grafana, Elasticsearch · Kibana EC2와 EBS</a:t>
            </a:r>
            <a:endParaRPr lang="en-US" sz="1148" dirty="0"/>
          </a:p>
        </p:txBody>
      </p:sp>
      <p:sp>
        <p:nvSpPr>
          <p:cNvPr id="27" name="Shape 25"/>
          <p:cNvSpPr/>
          <p:nvPr/>
        </p:nvSpPr>
        <p:spPr>
          <a:xfrm>
            <a:off x="7126194" y="1542776"/>
            <a:ext cx="4532315" cy="123828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6754" y="1733245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 가정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6754" y="2009485"/>
            <a:ext cx="4151285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평균 약 90만 원</a:t>
            </a:r>
            <a:endParaRPr lang="en-US" sz="2325" dirty="0"/>
          </a:p>
        </p:txBody>
      </p:sp>
      <p:sp>
        <p:nvSpPr>
          <p:cNvPr id="30" name="Text 28"/>
          <p:cNvSpPr txBox="1"/>
          <p:nvPr/>
        </p:nvSpPr>
        <p:spPr>
          <a:xfrm>
            <a:off x="7316754" y="2361895"/>
            <a:ext cx="415128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제외 3개월 총 270만 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26194" y="2952506"/>
            <a:ext cx="4532315" cy="188777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6754" y="3142976"/>
            <a:ext cx="41512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예상 사용자 수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16754" y="3438235"/>
            <a:ext cx="4151285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390명</a:t>
            </a:r>
            <a:endParaRPr lang="en-US" sz="2325" dirty="0"/>
          </a:p>
        </p:txBody>
      </p:sp>
      <p:sp>
        <p:nvSpPr>
          <p:cNvPr id="34" name="Text 32"/>
          <p:cNvSpPr txBox="1"/>
          <p:nvPr/>
        </p:nvSpPr>
        <p:spPr>
          <a:xfrm>
            <a:off x="7316754" y="3790645"/>
            <a:ext cx="4151285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Tier(월 2,300원) 기준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16754" y="4110594"/>
            <a:ext cx="4151285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25" b="1" spc="-93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115명</a:t>
            </a:r>
            <a:endParaRPr lang="en-US" sz="2325" dirty="0"/>
          </a:p>
        </p:txBody>
      </p:sp>
      <p:sp>
        <p:nvSpPr>
          <p:cNvPr id="36" name="Text 34"/>
          <p:cNvSpPr txBox="1"/>
          <p:nvPr/>
        </p:nvSpPr>
        <p:spPr>
          <a:xfrm>
            <a:off x="7316754" y="4463004"/>
            <a:ext cx="4151285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Tier(월 7,800원) 기준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26194" y="5011644"/>
            <a:ext cx="4532315" cy="83823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6754" y="5202204"/>
            <a:ext cx="4151285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Tier별 가격 차등 구조로 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지불 의사를 단계별로 검증</a:t>
            </a:r>
            <a:pPr algn="l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Free → Premium → Max 전환을 유도합니다.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4350" y="6219840"/>
            <a:ext cx="116979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결과물 · 기대효과</a:t>
            </a:r>
            <a:endParaRPr lang="en-US" sz="938" dirty="0"/>
          </a:p>
        </p:txBody>
      </p:sp>
      <p:sp>
        <p:nvSpPr>
          <p:cNvPr id="41" name="Text 39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51</a:t>
            </a:r>
            <a:endParaRPr lang="en-US" sz="9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측면과 비즈니스 측면의 기대효과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편의성에서 시작해, 데이터가 누적될수록 가치가 커지는 구조를 목표로 합니다.</a:t>
            </a:r>
            <a:endParaRPr lang="en-US" sz="1313" dirty="0"/>
          </a:p>
        </p:txBody>
      </p:sp>
      <p:sp>
        <p:nvSpPr>
          <p:cNvPr id="5" name="Shape 3"/>
          <p:cNvSpPr/>
          <p:nvPr/>
        </p:nvSpPr>
        <p:spPr>
          <a:xfrm>
            <a:off x="533370" y="1542776"/>
            <a:ext cx="5476890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30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측면</a:t>
            </a:r>
            <a:endParaRPr lang="en-US" sz="1463" dirty="0"/>
          </a:p>
        </p:txBody>
      </p:sp>
      <p:sp>
        <p:nvSpPr>
          <p:cNvPr id="7" name="Text 5"/>
          <p:cNvSpPr txBox="1"/>
          <p:nvPr/>
        </p:nvSpPr>
        <p:spPr>
          <a:xfrm>
            <a:off x="723930" y="2069836"/>
            <a:ext cx="5095860" cy="133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기기 내 앱에 흩어진 사진 · 위치 · 일정 데이터를 하나의 타임라인으로 자동 통합하여,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정리 없이도 하루 흐름을 쉽게 회상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패턴 분석 · 회고 기능으로 자신의 행동 · 관계 · 생활 패턴을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객관적으로 파악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피로 없이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의미 있는 자기 인식 경험 획득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1710" y="1542776"/>
            <a:ext cx="5476890" cy="37348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2271" y="1733245"/>
            <a:ext cx="5095860" cy="33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측면</a:t>
            </a:r>
            <a:endParaRPr lang="en-US" sz="1463" dirty="0"/>
          </a:p>
        </p:txBody>
      </p:sp>
      <p:sp>
        <p:nvSpPr>
          <p:cNvPr id="10" name="Text 8"/>
          <p:cNvSpPr txBox="1"/>
          <p:nvPr/>
        </p:nvSpPr>
        <p:spPr>
          <a:xfrm>
            <a:off x="6372271" y="2069836"/>
            <a:ext cx="5095860" cy="156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48000"/>
              </a:lnSpc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Self-Tracking · AI Memory 시장 초기 단계에서 기존 서비스의 기록 피로 한계를 극복한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차별화된 포지션 선점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누적될수록 AI 분석 품질이 향상되고 서비스 가치가 상승 →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리텐션과 유료 전환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기대</a:t>
            </a:r>
            <a:endParaRPr lang="en-US" sz="1200" dirty="0"/>
          </a:p>
          <a:p>
            <a:pPr marL="139700" indent="-139700">
              <a:lnSpc>
                <a:spcPct val="148000"/>
              </a:lnSpc>
              <a:spcBef>
                <a:spcPts val="450"/>
              </a:spcBef>
              <a:buSzPct val="100000"/>
              <a:buChar char="•"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PMF 검증 후 구독 결제 · 단계별 확장으로 </a:t>
            </a:r>
            <a:pPr indent="0" marL="0">
              <a:lnSpc>
                <a:spcPct val="148000"/>
              </a:lnSpc>
              <a:buNone/>
            </a:pPr>
            <a:r>
              <a:rPr lang="en-US" sz="1200" b="1" spc="-1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가능한 수익 모델</a:t>
            </a:r>
            <a:pPr indent="0" marL="0">
              <a:lnSpc>
                <a:spcPct val="148000"/>
              </a:lnSpc>
              <a:buNone/>
            </a:pPr>
            <a:r>
              <a:rPr lang="en-US" sz="1200" spc="-1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3370" y="5449092"/>
            <a:ext cx="11125230" cy="494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449092"/>
            <a:ext cx="1082037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최종적으로 확인하려는 기대효과는 수집한 데이터의 양이 아니라 사용자가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변화와 성장을 지속적으로 확인하게 되는지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38" dirty="0"/>
          </a:p>
        </p:txBody>
      </p:sp>
      <p:sp>
        <p:nvSpPr>
          <p:cNvPr id="13" name="Shape 11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4350" y="6219840"/>
            <a:ext cx="116979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결과물 · 기대효과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51</a:t>
            </a:r>
            <a:endParaRPr lang="en-US" sz="9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 주요 의견 반영 1 / 2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데이터 안정성 · 신뢰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기획심의에서 제기된 의견과 이번 개발 기간 동안의 반영 결과입니다.</a:t>
            </a:r>
            <a:endParaRPr lang="en-US" sz="1313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4894966"/>
                <a:gridCol w="6230173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기획심의 의견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사용자가 민감한 사진 · 위치 · 일정 권한을 허용할 만큼의 즉시 체감 가치는 무엇이며, 이를 단계적으로 경험시키는 권한 요청 UX는 어떻게 설계할 것인가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권한을 한 번에 요구하지 않고, 기능을 처음 사용하는 시점에 필요성과 활용 목적을 안내한 후 개별적으로 요청함. 허용된 데이터로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타임라인 미리보기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 제공하며, 일부 권한을 거부해도 서비스를 이용할 수 있도록 구성함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버전 · 기기별 백그라운드 제약으로 인한 데이터 유실과 배터리 소모를 어떻게 방지하고 검증할 것인가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데이터는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Foreground Service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시간 · 거리 기준으로 수집하고, 진행 상태를 저장하여 앱이나 기기 재시작 후에도 복원함. Android 버전과 기기별로 백그라운드 전환 · 재부팅 상황의 데이터 누락과 배터리 사용량을 검증함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Journal · Day One 등 기존 서비스 대비 사용자가 Laimory에 장기 데이터를 맡겨야 할 차별적 이유와 신뢰 형성 방식은 무엇인가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서비스가 직접 입력과 기록 보관에 집중한다면, Laimory는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부담을 줄이고 장기 데이터를 목표 추적과 개인화된 AI 대화에 활용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함. 데이터 활용 목적을 안내하고 타임라인 생성 시 AI에게 보내는 데이터를 선택할 수 있도록 하여 신뢰를 형성함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잘못 생성한 기억을 사용자가 수정 · 삭제 · 비공개 처리할 수 있도록 어떤 통제 UX와 데이터 처리 정책을 제공할 것인가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생성한 타임라인은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으로 제공하며, 생성 직후 사용자가 내용을 직접 수정 · 삭제할 수 있음.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수정한 내용만 최종 기록으로 저장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4350" y="6219840"/>
            <a:ext cx="126278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기획심의 의견 반영</a:t>
            </a:r>
            <a:endParaRPr lang="en-US" sz="938" dirty="0"/>
          </a:p>
        </p:txBody>
      </p:sp>
      <p:sp>
        <p:nvSpPr>
          <p:cNvPr id="8" name="Text 5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51</a:t>
            </a:r>
            <a:endParaRPr lang="en-US" sz="9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350" y="361920"/>
            <a:ext cx="1116327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기획심의 주요 의견 반영 2 / 2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514350" y="609630"/>
            <a:ext cx="11163270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spc="-7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필요성과 리텐션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514350" y="1091428"/>
            <a:ext cx="1070607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13" spc="-13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검증 과제는 AI 타임라인이 실제로 기록 부담을 줄이고 지속적인 회고 행동으로 이어지는지를 사용자 데이터로 확인하는 것입니다.</a:t>
            </a:r>
            <a:endParaRPr lang="en-US" sz="1313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542776"/>
          <a:ext cx="11125230" cy="914400"/>
        </p:xfrm>
        <a:graphic>
          <a:graphicData uri="http://schemas.openxmlformats.org/drawingml/2006/table">
            <a:tbl>
              <a:tblPr/>
              <a:tblGrid>
                <a:gridCol w="4894966"/>
                <a:gridCol w="6230173"/>
              </a:tblGrid>
              <a:tr h="36667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기획심의 의견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012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· 위치 · 일정처럼 제한된 자동 수집 데이터만으로 어떤 독자적이고 유용한 결과물을 제공할 것인가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단순 시간순 나열이 아닌, LLM이 사진 · 위치 · 일정의 시간과 내용을 함께 분석해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데이터의 맥락을 추론하여 하루의 타임라인으로 연결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정보 추출 · 시각화를 넘어 AI가 반드시 필요한 지점은 어디이며, 기존 데이터를 조합해 어떤 새로운 정보나 행동 변화를 도출할 것인가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· 위치 · 일정 간의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관계를 파악하고 하나의 하루 맥락으로 연결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데 AI가 필요함. LLM이 파편화된 정보에서 행동과 하루 흐름을 추론하고 부족한 내용은 질문으로 보완하여, 작성 부담을 줄이고 꾸준히 기록하는 습관을 유도함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수집만으로 지속 사용이 보장되지 않는 상황에서 반복 방문과 장기 리텐션을 만드는 핵심 사용 시나리오는 무엇인가. 그리고 일기 작성만으로는 리텐션 확보가 어렵다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수집된 기록을 바탕으로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개인화된 작성 유도 알림과 목표 리마인드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 제공해 반복 방문을 유도함. 다만 이 지적은 아직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 단계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이며, 8월 베타와 출시 이후 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 · D7 · D30 리텐션과 반복 회고율</a:t>
                      </a:r>
                      <a:pPr algn="l" indent="0" marL="0">
                        <a:lnSpc>
                          <a:spcPct val="140000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실제 검증할 예정임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3825" marR="123825" marT="95250" marB="952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3370" y="5221224"/>
            <a:ext cx="1112523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5221224"/>
            <a:ext cx="10820370" cy="81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멘토 의견에 따라 각 KPI의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목표 수준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설정하고, AI 처리 실패 · callback 유실 · 중복 요청 · 서버 재시작 상황의 </a:t>
            </a:r>
            <a:pPr algn="l" indent="0" marL="0">
              <a:lnSpc>
                <a:spcPct val="145000"/>
              </a:lnSpc>
              <a:buNone/>
            </a:pPr>
            <a:r>
              <a:rPr lang="en-US" sz="1238" b="1" spc="-1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검증</a:t>
            </a:r>
            <a:pPr algn="l" indent="0" marL="0">
              <a:lnSpc>
                <a:spcPct val="145000"/>
              </a:lnSpc>
              <a:buNone/>
            </a:pPr>
            <a:r>
              <a:rPr lang="en-US" sz="1238" spc="-15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사용자 시나리오 기준으로 완료합니다.</a:t>
            </a:r>
            <a:endParaRPr lang="en-US" sz="1238" dirty="0"/>
          </a:p>
        </p:txBody>
      </p:sp>
      <p:sp>
        <p:nvSpPr>
          <p:cNvPr id="8" name="Shape 5"/>
          <p:cNvSpPr/>
          <p:nvPr/>
        </p:nvSpPr>
        <p:spPr>
          <a:xfrm>
            <a:off x="533370" y="6096030"/>
            <a:ext cx="111252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4350" y="6219840"/>
            <a:ext cx="126278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기획심의 의견 반영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11210910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51</a:t>
            </a:r>
            <a:endParaRPr lang="en-US" sz="9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58379" y="361920"/>
            <a:ext cx="667512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b="1" spc="78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2758379" y="609630"/>
            <a:ext cx="6675120" cy="110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00" b="1" spc="-9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 이미 쌓인 하루를,</a:t>
            </a:r>
            <a:endParaRPr lang="en-US" sz="3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300" b="1" spc="-99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확정만 하면 되는 기록으로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238280" y="1939168"/>
            <a:ext cx="3124230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28750" y="2129729"/>
            <a:ext cx="274320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28750" y="2424989"/>
            <a:ext cx="274320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AI 생성 → 편집 → 확정까지 </a:t>
            </a:r>
            <a:pPr algn="ctr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핵심 흐름을 구현</a:t>
            </a:r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알파 테스트를 진행 중입니다.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33870" y="1939168"/>
            <a:ext cx="3124230" cy="136209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4430" y="2129729"/>
            <a:ext cx="274320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1개월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24430" y="2424989"/>
            <a:ext cx="274320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8/24 베타</a:t>
            </a:r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실패 상황과 사용자 가치를 검증하고 </a:t>
            </a:r>
            <a:pPr algn="ctr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정식 배포</a:t>
            </a:r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29550" y="1939168"/>
            <a:ext cx="3124230" cy="136209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20020" y="2129729"/>
            <a:ext cx="274320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spc="-12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질문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20020" y="2424989"/>
            <a:ext cx="274320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하루가 사용자에게 </a:t>
            </a:r>
            <a:pPr algn="ctr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기록으로 받아들여지는가</a:t>
            </a:r>
            <a:pPr algn="ctr" indent="0" marL="0">
              <a:lnSpc>
                <a:spcPct val="150000"/>
              </a:lnSpc>
              <a:buNone/>
            </a:pPr>
            <a:r>
              <a:rPr lang="en-US" sz="1200" spc="-12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01284" y="6096030"/>
            <a:ext cx="78940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82264" y="6219840"/>
            <a:ext cx="398953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38" spc="9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38" dirty="0"/>
          </a:p>
        </p:txBody>
      </p:sp>
      <p:sp>
        <p:nvSpPr>
          <p:cNvPr id="15" name="Text 13"/>
          <p:cNvSpPr txBox="1"/>
          <p:nvPr/>
        </p:nvSpPr>
        <p:spPr>
          <a:xfrm>
            <a:off x="6043087" y="6219840"/>
            <a:ext cx="46671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51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Laimory 프로젝트 중간점검 발표자료</dc:title>
  <dc:subject>PptxGenJS Presentation</dc:subject>
  <dc:creator>369팀</dc:creator>
  <cp:lastModifiedBy>369팀</cp:lastModifiedBy>
  <cp:revision>1</cp:revision>
  <dcterms:created xsi:type="dcterms:W3CDTF">2026-08-16T16:47:28Z</dcterms:created>
  <dcterms:modified xsi:type="dcterms:W3CDTF">2026-08-16T16:47:28Z</dcterms:modified>
</cp:coreProperties>
</file>